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743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Vishu-j-04/MS-Internship/tree/main" TargetMode="Externa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" y="0"/>
            <a:ext cx="54864" cy="51435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5120640"/>
            <a:ext cx="8595360" cy="9144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92024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65176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8328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1480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7784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0936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04088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77240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03920" y="0"/>
            <a:ext cx="9144" cy="5143500"/>
          </a:xfrm>
          <a:prstGeom prst="rect">
            <a:avLst/>
          </a:prstGeom>
          <a:solidFill>
            <a:srgbClr val="1A2840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7132320" y="457200"/>
            <a:ext cx="1645920" cy="16459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48640" y="73152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</a:t>
            </a:r>
            <a:endParaRPr lang="en-US" sz="5200" dirty="0"/>
          </a:p>
        </p:txBody>
      </p:sp>
      <p:sp>
        <p:nvSpPr>
          <p:cNvPr id="26" name="Text 23"/>
          <p:cNvSpPr/>
          <p:nvPr/>
        </p:nvSpPr>
        <p:spPr>
          <a:xfrm>
            <a:off x="548640" y="16916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Surveillance</a:t>
            </a:r>
            <a:endParaRPr lang="en-US" sz="5200" dirty="0"/>
          </a:p>
        </p:txBody>
      </p:sp>
      <p:sp>
        <p:nvSpPr>
          <p:cNvPr id="27" name="Text 24"/>
          <p:cNvSpPr/>
          <p:nvPr/>
        </p:nvSpPr>
        <p:spPr>
          <a:xfrm>
            <a:off x="548640" y="26974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System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48640" y="3246120"/>
            <a:ext cx="2743200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3429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201168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Vishvarajsinh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Ashoksinh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Jadeja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No: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201168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220470116034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By: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201168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Hemangi Joshi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86400" y="4114800"/>
            <a:ext cx="347472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557784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&amp; Communication Technology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577840" y="45079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VVP Engineering College – Rajkot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21208" y="1234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1746504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1480" y="1746504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1208" y="18379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8379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&amp; Objectives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350008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2350008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21208" y="24414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4414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2953512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2953512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21208" y="30449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0449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(Microsoft Elevate)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557016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11480" y="3557016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21208" y="36484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36484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 Used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4160520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4160520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21208" y="4251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251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Functionalities / Features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54880" y="1143000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754880" y="1143000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64608" y="1234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4924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Overview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54880" y="1746504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1746504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64608" y="18379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49240" y="18379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Screenshots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754880" y="2350008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754880" y="2350008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64608" y="24414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49240" y="24414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Outcomes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54880" y="2953512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754880" y="2953512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864608" y="30449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349240" y="30449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(12-Week Plan)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54880" y="3557016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754880" y="3557016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64608" y="36484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349240" y="36484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54880" y="4160520"/>
            <a:ext cx="4206240" cy="50292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754880" y="4160520"/>
            <a:ext cx="54864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864608" y="4251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349240" y="4251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Border Surveillance System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19456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280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FPS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801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Speed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377440"/>
            <a:ext cx="219456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514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2920" y="3035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Accuracy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3611880"/>
            <a:ext cx="219456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3749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02920" y="42702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34640" y="117043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develops an AI-powered border surveillance system using deep learning for real-time threat detection.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834640" y="2011680"/>
            <a:ext cx="5852160" cy="9144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834640" y="206654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is employed for object detection to identify persons, vehicles, and suspicious activities at 30+ FPS. An ensemble approach combining Isolation Forest and Random Forest performs anomaly detection.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834640" y="2907792"/>
            <a:ext cx="5852160" cy="9144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834640" y="296265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threats are prioritized via confidence scores and trigger real-time alerts via email and SMS. The system is deployed on Microsoft Azure using Azure Functions, Blob Storage, and Cosmos DB.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834640" y="3803904"/>
            <a:ext cx="5852160" cy="9144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834640" y="3858768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uses the UCF-Crime dataset (1,900 videos, 13 anomaly types) and xView satellite dataset (1M+ objects). A Power BI dashboard provides real-time visualization.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Microsoft Elevate Program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1490472"/>
            <a:ext cx="402336" cy="402336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60" y="1562892"/>
            <a:ext cx="257495" cy="25749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12-Week Intensive Virtual Internship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97280" y="1737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– April 2026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54880" y="114300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754880" y="1143000"/>
            <a:ext cx="54864" cy="10972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892040" y="1490472"/>
            <a:ext cx="402336" cy="402336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460" y="1562892"/>
            <a:ext cx="257495" cy="25749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4068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Edunet Foundation &amp; FICE Education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440680" y="1737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Industry-backed program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11480" y="237744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11480" y="2377440"/>
            <a:ext cx="54864" cy="10972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48640" y="2724912"/>
            <a:ext cx="402336" cy="402336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60" y="2797332"/>
            <a:ext cx="257495" cy="25749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97280" y="2514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with GTU for 8th Semester Internship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097280" y="2971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academic credit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754880" y="237744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754880" y="2377440"/>
            <a:ext cx="54864" cy="1097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4892040" y="2724912"/>
            <a:ext cx="402336" cy="402336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4460" y="2797332"/>
            <a:ext cx="257495" cy="25749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40680" y="2514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Data Analytics, ML, DL, Power BI, Azure Cloud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440680" y="2971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learning modules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11480" y="361188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11480" y="3611880"/>
            <a:ext cx="54864" cy="10972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548640" y="3959352"/>
            <a:ext cx="402336" cy="402336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60" y="4031772"/>
            <a:ext cx="257495" cy="257495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972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Mentorship from Microsoft-Certified Trainers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109728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guidance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4754880" y="361188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1"/>
          <p:cNvSpPr/>
          <p:nvPr/>
        </p:nvSpPr>
        <p:spPr>
          <a:xfrm>
            <a:off x="4754880" y="3611880"/>
            <a:ext cx="54864" cy="10972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2"/>
          <p:cNvSpPr/>
          <p:nvPr/>
        </p:nvSpPr>
        <p:spPr>
          <a:xfrm>
            <a:off x="4892040" y="3959352"/>
            <a:ext cx="402336" cy="402336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4460" y="4031772"/>
            <a:ext cx="257495" cy="257495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54406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Labs with Real-World Datasets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544068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experience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– Learning Modules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4206240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2070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1–2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58191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&amp; EDA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143000"/>
            <a:ext cx="4206240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2070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158191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&amp; Business Intelligence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37744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2377440"/>
            <a:ext cx="4206240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24414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6–7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8163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(Supervised &amp; Unsupervised)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37744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377440"/>
            <a:ext cx="4206240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4414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8–9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28163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&amp; Computer Vision (CNN)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61188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11480" y="3611880"/>
            <a:ext cx="4206240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36758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05079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&amp; Prompt Engineering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54880" y="3611880"/>
            <a:ext cx="4206240" cy="1097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611880"/>
            <a:ext cx="4206240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92040" y="36758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11–12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92040" y="405079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 Cloud &amp; Deployment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Role During Internship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420624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07008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05840" y="12161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weekly live sessions and complete hands-on labs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8321040" cy="420624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11480" y="1645920"/>
            <a:ext cx="54864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70992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05840" y="171907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real-world datasets for Data Analytics &amp; ML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1480" y="2148840"/>
            <a:ext cx="8321040" cy="420624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11480" y="2148840"/>
            <a:ext cx="54864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221284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05840" y="222199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end-to-end ML pipelines (data → model → deployment)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11480" y="2651760"/>
            <a:ext cx="8321040" cy="420624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11480" y="2651760"/>
            <a:ext cx="54864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271576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5840" y="272491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Power BI dashboards for data visualization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11480" y="3154680"/>
            <a:ext cx="8321040" cy="420624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11480" y="3154680"/>
            <a:ext cx="54864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21868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05840" y="32278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AI models on Microsoft Azure Cloud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11480" y="3657600"/>
            <a:ext cx="8321040" cy="420624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1"/>
          <p:cNvSpPr/>
          <p:nvPr/>
        </p:nvSpPr>
        <p:spPr>
          <a:xfrm>
            <a:off x="411480" y="3657600"/>
            <a:ext cx="54864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3721608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05840" y="37307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GTU internship project under Border Defence domain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11480" y="4160520"/>
            <a:ext cx="8321040" cy="420624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411480" y="4160520"/>
            <a:ext cx="54864" cy="42062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4224528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005840" y="423367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GitHub repository with clean code practices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16052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3611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16052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3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73352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5528" y="16459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object detection with YOLOv8 (persons, vehicles, objects)</a:t>
            </a:r>
            <a:endParaRPr lang="en-US" sz="10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121408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95528" y="20939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– Isolation Forest + Random Forest ensemble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569464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95528" y="254203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frame extraction &amp; preprocessing (1 FPS from feeds)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01752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95528" y="29900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Confidence-based threat prioritization and filtering</a:t>
            </a:r>
            <a:endParaRPr lang="en-US" sz="10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465576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95528" y="343814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alerts (Email, SMS) for detected threats</a:t>
            </a:r>
            <a:endParaRPr lang="en-US" sz="10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913632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95528" y="3886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 for videos, frames, and detection logs</a:t>
            </a:r>
            <a:endParaRPr lang="en-US" sz="10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361688"/>
            <a:ext cx="201168" cy="2011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795528" y="433425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Power BI dashboard visualization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4754880" y="1143000"/>
            <a:ext cx="397764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17"/>
          <p:cNvSpPr/>
          <p:nvPr/>
        </p:nvSpPr>
        <p:spPr>
          <a:xfrm>
            <a:off x="4754880" y="1143000"/>
            <a:ext cx="54864" cy="36118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18"/>
          <p:cNvSpPr/>
          <p:nvPr/>
        </p:nvSpPr>
        <p:spPr>
          <a:xfrm>
            <a:off x="4754880" y="1143000"/>
            <a:ext cx="3977640" cy="411480"/>
          </a:xfrm>
          <a:prstGeom prst="rect">
            <a:avLst/>
          </a:prstGeom>
          <a:solidFill>
            <a:srgbClr val="1A8C82"/>
          </a:solidFill>
          <a:ln w="12700">
            <a:solidFill>
              <a:srgbClr val="1A8C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19"/>
          <p:cNvSpPr/>
          <p:nvPr/>
        </p:nvSpPr>
        <p:spPr>
          <a:xfrm>
            <a:off x="4892040" y="11887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4892040" y="17190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Performance: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4892040" y="1965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FPS processing, &lt;2s alert latency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4892040" y="22951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</a:t>
            </a:r>
            <a:endParaRPr lang="en-US" sz="1000" dirty="0"/>
          </a:p>
        </p:txBody>
      </p:sp>
      <p:sp>
        <p:nvSpPr>
          <p:cNvPr id="32" name="Text 23"/>
          <p:cNvSpPr/>
          <p:nvPr/>
        </p:nvSpPr>
        <p:spPr>
          <a:xfrm>
            <a:off x="4892040" y="25420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detection, &lt;20% false positive rate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4892040" y="287121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Scalability:</a:t>
            </a:r>
            <a:endParaRPr lang="en-US" sz="1000" dirty="0"/>
          </a:p>
        </p:txBody>
      </p:sp>
      <p:sp>
        <p:nvSpPr>
          <p:cNvPr id="34" name="Text 25"/>
          <p:cNvSpPr/>
          <p:nvPr/>
        </p:nvSpPr>
        <p:spPr>
          <a:xfrm>
            <a:off x="4892040" y="3118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camera feeds via Azure cloud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4892040" y="34472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</a:t>
            </a:r>
            <a:endParaRPr lang="en-US" sz="1000" dirty="0"/>
          </a:p>
        </p:txBody>
      </p:sp>
      <p:sp>
        <p:nvSpPr>
          <p:cNvPr id="36" name="Text 27"/>
          <p:cNvSpPr/>
          <p:nvPr/>
        </p:nvSpPr>
        <p:spPr>
          <a:xfrm>
            <a:off x="4892040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uptime with Azure cloud services</a:t>
            </a:r>
            <a:endParaRPr lang="en-US" sz="1000" dirty="0"/>
          </a:p>
        </p:txBody>
      </p:sp>
      <p:sp>
        <p:nvSpPr>
          <p:cNvPr id="37" name="Text 28"/>
          <p:cNvSpPr/>
          <p:nvPr/>
        </p:nvSpPr>
        <p:spPr>
          <a:xfrm>
            <a:off x="4892040" y="4023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</a:t>
            </a:r>
            <a:endParaRPr lang="en-US" sz="1000" dirty="0"/>
          </a:p>
        </p:txBody>
      </p:sp>
      <p:sp>
        <p:nvSpPr>
          <p:cNvPr id="38" name="Text 29"/>
          <p:cNvSpPr/>
          <p:nvPr/>
        </p:nvSpPr>
        <p:spPr>
          <a:xfrm>
            <a:off x="4892040" y="4270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storage and secure API endpoints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Project Title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91440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9144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344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Border Surveillance System with Real-Time Anomaly Detection and Cloud-Based Alert Management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2697480"/>
            <a:ext cx="42062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1480" y="2697480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60120" y="285292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Border Security Enhancement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754880" y="2697480"/>
            <a:ext cx="42062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754880" y="2697480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88036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03520" y="285292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Threat Detection – Replacing Manual Monitoring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11480" y="3474720"/>
            <a:ext cx="42062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11480" y="3474720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60120" y="363016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 System for Security Personnel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754880" y="3474720"/>
            <a:ext cx="42062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754880" y="3474720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365760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303520" y="363016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Cost-Effective Alternative to Traditional Surveillance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11480" y="4251960"/>
            <a:ext cx="83210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411480" y="4251960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61688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60120" y="43434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Solution for Large-Scale Border Monitoring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&amp; Surveillance Challenges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393192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36118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39319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Key Issues</a:t>
            </a:r>
            <a:endParaRPr lang="en-US" sz="13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9072"/>
            <a:ext cx="228600" cy="228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16916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monitoring of vast border areas</a:t>
            </a:r>
            <a:endParaRPr lang="en-US" sz="11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04288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68680" y="2276856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threat detection due to manual analysis</a:t>
            </a:r>
            <a:endParaRPr lang="en-US" sz="11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9504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8680" y="28620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false alarm rates (animals, weather, noise)</a:t>
            </a:r>
            <a:endParaRPr lang="en-US" sz="11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74720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68680" y="344728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manpower and resources</a:t>
            </a:r>
            <a:endParaRPr lang="en-US" sz="115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5993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68680" y="4032504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data integration from sensors &amp; cameras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4407408" y="2834640"/>
            <a:ext cx="329184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/>
          <p:nvPr/>
        </p:nvSpPr>
        <p:spPr>
          <a:xfrm>
            <a:off x="4370832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B4D8"/>
                </a:solidFill>
              </a:rPr>
              <a:t>➔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4800600" y="1143000"/>
            <a:ext cx="393192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7"/>
          <p:cNvSpPr/>
          <p:nvPr/>
        </p:nvSpPr>
        <p:spPr>
          <a:xfrm>
            <a:off x="4800600" y="1143000"/>
            <a:ext cx="54864" cy="36118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8"/>
          <p:cNvSpPr/>
          <p:nvPr/>
        </p:nvSpPr>
        <p:spPr>
          <a:xfrm>
            <a:off x="4800600" y="1143000"/>
            <a:ext cx="3931920" cy="4114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9"/>
          <p:cNvSpPr/>
          <p:nvPr/>
        </p:nvSpPr>
        <p:spPr>
          <a:xfrm>
            <a:off x="493776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AI Solution</a:t>
            </a:r>
            <a:endParaRPr lang="en-US" sz="13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737360"/>
            <a:ext cx="1097280" cy="10972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937760" y="28803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Automated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System</a:t>
            </a:r>
            <a:endParaRPr lang="en-US" sz="1600" dirty="0"/>
          </a:p>
        </p:txBody>
      </p:sp>
      <p:sp>
        <p:nvSpPr>
          <p:cNvPr id="29" name="Text 21"/>
          <p:cNvSpPr/>
          <p:nvPr/>
        </p:nvSpPr>
        <p:spPr>
          <a:xfrm>
            <a:off x="493776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+ ML Ensemble + Azure Cloud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Project About?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11155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1472184"/>
            <a:ext cx="475488" cy="47548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88720" y="1463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border areas using video surveillance data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143000"/>
            <a:ext cx="54864" cy="111556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92040" y="1472184"/>
            <a:ext cx="475488" cy="475488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32120" y="1463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detects unusual activities and objects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404872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2404872"/>
            <a:ext cx="54864" cy="11155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2734056"/>
            <a:ext cx="475488" cy="47548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88720" y="27249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Machine Learning to identify threats in real-time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404872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404872"/>
            <a:ext cx="54864" cy="111556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92040" y="2734056"/>
            <a:ext cx="475488" cy="475488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532120" y="27249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prioritized alerts to security personnel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666744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11480" y="3666744"/>
            <a:ext cx="54864" cy="11155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8640" y="3995928"/>
            <a:ext cx="475488" cy="47548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188720" y="398678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on Azure Cloud for scalability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54880" y="3666744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666744"/>
            <a:ext cx="54864" cy="111556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92040" y="3995928"/>
            <a:ext cx="475488" cy="475488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532120" y="398678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Visualizes data through interactive Power BI dashboard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Technology: Computer Vision + Machine Learning + Cloud Computing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43891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75488" cy="4389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20700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end-to-end AI surveillance system from scratch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1655064"/>
            <a:ext cx="8321040" cy="43891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" y="1655064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1655064"/>
            <a:ext cx="475488" cy="4389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170078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171907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object detection (persons, vehicles, weapons)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167128"/>
            <a:ext cx="8321040" cy="43891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2167128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11480" y="2167128"/>
            <a:ext cx="475488" cy="4389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221284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223113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anomaly detection for unusual activities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2679192"/>
            <a:ext cx="8321040" cy="43891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2679192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11480" y="2679192"/>
            <a:ext cx="475488" cy="4389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272491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27432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false alarm rates using confidence scoring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3191256"/>
            <a:ext cx="8321040" cy="43891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3191256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11480" y="3191256"/>
            <a:ext cx="475488" cy="4389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11480" y="32369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05840" y="325526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scalable solution on Microsoft Azure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11480" y="3703320"/>
            <a:ext cx="8321040" cy="43891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1480" y="3703320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11480" y="3703320"/>
            <a:ext cx="475488" cy="4389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11480" y="374904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05840" y="37673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real-time monitoring dashboard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11480" y="4215384"/>
            <a:ext cx="8321040" cy="43891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11480" y="4215384"/>
            <a:ext cx="54864" cy="4389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11480" y="4215384"/>
            <a:ext cx="475488" cy="4389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11480" y="426110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427939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Microsoft Elevate learning objectives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420624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307592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143000" y="13990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EDA on surveillance datasets (UCF-Crime, xView)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143000"/>
            <a:ext cx="420624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307592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486400" y="13990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YOLOv8 object detection model (&gt;90% accuracy)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404872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2404872"/>
            <a:ext cx="420624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256946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143000" y="2660904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ensemble anomaly detection (Isolation Forest + RF)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404872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404872"/>
            <a:ext cx="420624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56946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486400" y="2660904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alert prioritization system (&lt;20% false positives)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666744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11480" y="3666744"/>
            <a:ext cx="420624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383133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143000" y="3922776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 Azure (Functions, Blob Storage, Cosmos DB)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54880" y="3666744"/>
            <a:ext cx="42062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666744"/>
            <a:ext cx="420624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92040" y="383133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5486400" y="3922776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Power BI dashboard for real-time monitoring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02336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3611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023360" cy="4572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60120" y="121615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Module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755648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68680" y="1737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object detection (persons, vehicles, weapons)</a:t>
            </a:r>
            <a:endParaRPr lang="en-US" sz="11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414016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68680" y="2395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Frame-by-frame video analysis (30+ FPS)</a:t>
            </a:r>
            <a:endParaRPr lang="en-US" sz="11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072384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68680" y="305409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generation with confidence scores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502920" y="42519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YOLOv8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709160" y="1143000"/>
            <a:ext cx="402336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709160" y="1143000"/>
            <a:ext cx="54864" cy="36118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709160" y="1143000"/>
            <a:ext cx="4023360" cy="457200"/>
          </a:xfrm>
          <a:prstGeom prst="rect">
            <a:avLst/>
          </a:prstGeom>
          <a:solidFill>
            <a:srgbClr val="1A8C82"/>
          </a:solidFill>
          <a:ln w="12700">
            <a:solidFill>
              <a:srgbClr val="1A8C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188720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257800" y="121615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4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755648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148072" y="1737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unusual movement patterns</a:t>
            </a:r>
            <a:endParaRPr lang="en-US" sz="115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414016"/>
            <a:ext cx="219456" cy="219456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5148072" y="2395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suspicious activities automatically</a:t>
            </a:r>
            <a:endParaRPr lang="en-US" sz="115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72384"/>
            <a:ext cx="219456" cy="219456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5148072" y="305409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learning-based classification</a:t>
            </a:r>
            <a:endParaRPr lang="en-US" sz="1150" dirty="0"/>
          </a:p>
        </p:txBody>
      </p:sp>
      <p:sp>
        <p:nvSpPr>
          <p:cNvPr id="30" name="Text 20"/>
          <p:cNvSpPr/>
          <p:nvPr/>
        </p:nvSpPr>
        <p:spPr>
          <a:xfrm>
            <a:off x="4754880" y="42519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ML: Isolation Forest + Random Forest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(Continued)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023360" cy="2240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22402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023360" cy="411480"/>
          </a:xfrm>
          <a:prstGeom prst="rect">
            <a:avLst/>
          </a:prstGeom>
          <a:solidFill>
            <a:srgbClr val="C07B30"/>
          </a:solidFill>
          <a:ln w="12700">
            <a:solidFill>
              <a:srgbClr val="C07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12161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System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91640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" y="167335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 alerts (High / Medium / Low)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240280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59536" y="222199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filtering via confidence threshold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788920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59536" y="277063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SMS notifications for critical threats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709160" y="1143000"/>
            <a:ext cx="4023360" cy="22402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4709160" y="1143000"/>
            <a:ext cx="54864" cy="2240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709160" y="1143000"/>
            <a:ext cx="402336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188720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30368" y="12161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69164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157216" y="167335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 feed (last 24 hours)</a:t>
            </a:r>
            <a:endParaRPr lang="en-US" sz="11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2240280"/>
            <a:ext cx="201168" cy="20116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157216" y="222199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heatmap – high-risk zones</a:t>
            </a:r>
            <a:endParaRPr lang="en-US" sz="11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278892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5157216" y="277063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count trends and analytics</a:t>
            </a:r>
            <a:endParaRPr lang="en-US" sz="1100" dirty="0"/>
          </a:p>
        </p:txBody>
      </p:sp>
      <p:sp>
        <p:nvSpPr>
          <p:cNvPr id="29" name="Text 19"/>
          <p:cNvSpPr/>
          <p:nvPr/>
        </p:nvSpPr>
        <p:spPr>
          <a:xfrm>
            <a:off x="411480" y="3566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Integration Pipeline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411480" y="3913632"/>
            <a:ext cx="1463040" cy="6583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1"/>
          <p:cNvSpPr/>
          <p:nvPr/>
        </p:nvSpPr>
        <p:spPr>
          <a:xfrm>
            <a:off x="411480" y="3913632"/>
            <a:ext cx="146304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2"/>
          <p:cNvSpPr/>
          <p:nvPr/>
        </p:nvSpPr>
        <p:spPr>
          <a:xfrm>
            <a:off x="484632" y="4005072"/>
            <a:ext cx="1316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Input</a:t>
            </a:r>
            <a:endParaRPr lang="en-US" sz="1100" dirty="0"/>
          </a:p>
        </p:txBody>
      </p:sp>
      <p:sp>
        <p:nvSpPr>
          <p:cNvPr id="33" name="Text 23"/>
          <p:cNvSpPr/>
          <p:nvPr/>
        </p:nvSpPr>
        <p:spPr>
          <a:xfrm>
            <a:off x="1874520" y="4041648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4D8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Shape 24"/>
          <p:cNvSpPr/>
          <p:nvPr/>
        </p:nvSpPr>
        <p:spPr>
          <a:xfrm>
            <a:off x="2084832" y="3913632"/>
            <a:ext cx="1463040" cy="6583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2084832" y="3913632"/>
            <a:ext cx="146304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6"/>
          <p:cNvSpPr/>
          <p:nvPr/>
        </p:nvSpPr>
        <p:spPr>
          <a:xfrm>
            <a:off x="2157984" y="4005072"/>
            <a:ext cx="1316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Processing</a:t>
            </a:r>
            <a:endParaRPr lang="en-US" sz="1100" dirty="0"/>
          </a:p>
        </p:txBody>
      </p:sp>
      <p:sp>
        <p:nvSpPr>
          <p:cNvPr id="37" name="Text 27"/>
          <p:cNvSpPr/>
          <p:nvPr/>
        </p:nvSpPr>
        <p:spPr>
          <a:xfrm>
            <a:off x="3547872" y="4041648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4D8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28"/>
          <p:cNvSpPr/>
          <p:nvPr/>
        </p:nvSpPr>
        <p:spPr>
          <a:xfrm>
            <a:off x="3758184" y="3913632"/>
            <a:ext cx="1463040" cy="6583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29"/>
          <p:cNvSpPr/>
          <p:nvPr/>
        </p:nvSpPr>
        <p:spPr>
          <a:xfrm>
            <a:off x="3758184" y="3913632"/>
            <a:ext cx="146304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/>
          <p:nvPr/>
        </p:nvSpPr>
        <p:spPr>
          <a:xfrm>
            <a:off x="3831336" y="4005072"/>
            <a:ext cx="1316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100" dirty="0"/>
          </a:p>
        </p:txBody>
      </p:sp>
      <p:sp>
        <p:nvSpPr>
          <p:cNvPr id="41" name="Text 31"/>
          <p:cNvSpPr/>
          <p:nvPr/>
        </p:nvSpPr>
        <p:spPr>
          <a:xfrm>
            <a:off x="5221224" y="4041648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4D8"/>
                </a:solidFill>
              </a:rPr>
              <a:t>→</a:t>
            </a:r>
            <a:endParaRPr lang="en-US" sz="1800" dirty="0"/>
          </a:p>
        </p:txBody>
      </p:sp>
      <p:sp>
        <p:nvSpPr>
          <p:cNvPr id="42" name="Shape 32"/>
          <p:cNvSpPr/>
          <p:nvPr/>
        </p:nvSpPr>
        <p:spPr>
          <a:xfrm>
            <a:off x="5431536" y="3913632"/>
            <a:ext cx="1463040" cy="6583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3"/>
          <p:cNvSpPr/>
          <p:nvPr/>
        </p:nvSpPr>
        <p:spPr>
          <a:xfrm>
            <a:off x="5431536" y="3913632"/>
            <a:ext cx="1463040" cy="54864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4"/>
          <p:cNvSpPr/>
          <p:nvPr/>
        </p:nvSpPr>
        <p:spPr>
          <a:xfrm>
            <a:off x="5504688" y="4005072"/>
            <a:ext cx="1316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6894576" y="4041648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4D8"/>
                </a:solidFill>
              </a:rPr>
              <a:t>→</a:t>
            </a:r>
            <a:endParaRPr lang="en-US" sz="1800" dirty="0"/>
          </a:p>
        </p:txBody>
      </p:sp>
      <p:sp>
        <p:nvSpPr>
          <p:cNvPr id="46" name="Shape 36"/>
          <p:cNvSpPr/>
          <p:nvPr/>
        </p:nvSpPr>
        <p:spPr>
          <a:xfrm>
            <a:off x="7104888" y="3913632"/>
            <a:ext cx="1463040" cy="6583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37"/>
          <p:cNvSpPr/>
          <p:nvPr/>
        </p:nvSpPr>
        <p:spPr>
          <a:xfrm>
            <a:off x="7104888" y="3913632"/>
            <a:ext cx="146304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38"/>
          <p:cNvSpPr/>
          <p:nvPr/>
        </p:nvSpPr>
        <p:spPr>
          <a:xfrm>
            <a:off x="7178040" y="4005072"/>
            <a:ext cx="13167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Flow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206240" cy="74980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502920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2801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12344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Input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15453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Extraction (OpenCV)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43000"/>
            <a:ext cx="4206240" cy="74980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0" y="1143000"/>
            <a:ext cx="54864" cy="74980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0" y="1143000"/>
            <a:ext cx="502920" cy="74980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2801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394960" y="12344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94960" y="15453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Resize, Normalize, Upload to Azure Blob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039112"/>
            <a:ext cx="4206240" cy="74980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2039112"/>
            <a:ext cx="54864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11480" y="2039112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21762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51560" y="213055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Layer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24414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+ Anomaly Detection Ensemble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039112"/>
            <a:ext cx="4206240" cy="74980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2039112"/>
            <a:ext cx="54864" cy="7498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54880" y="2039112"/>
            <a:ext cx="502920" cy="7498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754880" y="21762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94960" y="213055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Processing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94960" y="24414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Filtering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2935224"/>
            <a:ext cx="4206240" cy="74980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11480" y="2935224"/>
            <a:ext cx="54864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1480" y="2935224"/>
            <a:ext cx="502920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11480" y="30723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51560" y="302666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Layer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51560" y="3337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SMS Alerts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54880" y="2935224"/>
            <a:ext cx="4206240" cy="74980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754880" y="2935224"/>
            <a:ext cx="54864" cy="74980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754880" y="2935224"/>
            <a:ext cx="502920" cy="74980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754880" y="30723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5394960" y="302666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94960" y="3337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11480" y="3831336"/>
            <a:ext cx="8321040" cy="74980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11480" y="3831336"/>
            <a:ext cx="54864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11480" y="3831336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11480" y="39684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051560" y="3968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051560" y="4261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 + Cosmos DB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– Programming &amp; Libraries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192024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15568" y="1307592"/>
            <a:ext cx="521208" cy="5212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15568" y="134416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192938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3.9+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23682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14600" y="114300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514600" y="1143000"/>
            <a:ext cx="1920240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18688" y="1307592"/>
            <a:ext cx="521208" cy="521208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18688" y="134416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06040" y="192938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23682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Processing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114300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17720" y="1143000"/>
            <a:ext cx="19202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321808" y="1307592"/>
            <a:ext cx="521208" cy="5212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21808" y="134416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09160" y="192938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/ Keras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09160" y="23682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720840" y="114300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720840" y="1143000"/>
            <a:ext cx="192024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424928" y="1307592"/>
            <a:ext cx="521208" cy="5212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24928" y="134416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12280" y="192938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12280" y="23682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11480" y="283464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11480" y="2834640"/>
            <a:ext cx="1920240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115568" y="2999232"/>
            <a:ext cx="521208" cy="521208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115568" y="303580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02920" y="362102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&amp; NumPy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2920" y="40599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14600" y="283464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514600" y="2834640"/>
            <a:ext cx="19202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18688" y="2999232"/>
            <a:ext cx="521208" cy="5212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18688" y="303580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606040" y="362102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/ Seaborn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06040" y="40599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283464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617720" y="2834640"/>
            <a:ext cx="1920240" cy="7315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321808" y="2999232"/>
            <a:ext cx="521208" cy="521208"/>
          </a:xfrm>
          <a:prstGeom prst="ellipse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321808" y="303580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709160" y="362102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709160" y="40599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720840" y="2834640"/>
            <a:ext cx="1920240" cy="15544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720840" y="2834640"/>
            <a:ext cx="192024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424928" y="2999232"/>
            <a:ext cx="521208" cy="52120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424928" y="3035808"/>
            <a:ext cx="521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812280" y="362102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812280" y="40599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Annotation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Deployment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20624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3611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20624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 Services</a:t>
            </a:r>
            <a:endParaRPr lang="en-US" sz="13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09928"/>
            <a:ext cx="228600" cy="228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86968" y="16916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 Storage – Video &amp; frame storage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3172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86968" y="23134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 – Serverless processing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95351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86968" y="293522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Cosmos DB – Alert logs &amp; metadata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75304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86968" y="355701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Computer Vision API – Enhanced analysis</a:t>
            </a:r>
            <a:endParaRPr lang="en-US" sz="11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9709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86968" y="41788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Application Insights – Monitoring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4754880" y="1143000"/>
            <a:ext cx="3977640" cy="169164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5"/>
          <p:cNvSpPr/>
          <p:nvPr/>
        </p:nvSpPr>
        <p:spPr>
          <a:xfrm>
            <a:off x="4754880" y="1143000"/>
            <a:ext cx="54864" cy="16916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4754880" y="1143000"/>
            <a:ext cx="3977640" cy="411480"/>
          </a:xfrm>
          <a:prstGeom prst="rect">
            <a:avLst/>
          </a:prstGeom>
          <a:solidFill>
            <a:srgbClr val="1A8C82"/>
          </a:solidFill>
          <a:ln w="12700">
            <a:solidFill>
              <a:srgbClr val="1A8C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3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91640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48656" y="167335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(CI/CD)</a:t>
            </a:r>
            <a:endParaRPr lang="en-US" sz="11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240280"/>
            <a:ext cx="219456" cy="219456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248656" y="222199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(Containerization)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4754880" y="3017520"/>
            <a:ext cx="3977640" cy="173736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1"/>
          <p:cNvSpPr/>
          <p:nvPr/>
        </p:nvSpPr>
        <p:spPr>
          <a:xfrm>
            <a:off x="4754880" y="3017520"/>
            <a:ext cx="54864" cy="17373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2"/>
          <p:cNvSpPr/>
          <p:nvPr/>
        </p:nvSpPr>
        <p:spPr>
          <a:xfrm>
            <a:off x="4754880" y="3017520"/>
            <a:ext cx="3977640" cy="411480"/>
          </a:xfrm>
          <a:prstGeom prst="rect">
            <a:avLst/>
          </a:prstGeom>
          <a:solidFill>
            <a:srgbClr val="C07B30"/>
          </a:solidFill>
          <a:ln w="12700">
            <a:solidFill>
              <a:srgbClr val="C07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3"/>
          <p:cNvSpPr/>
          <p:nvPr/>
        </p:nvSpPr>
        <p:spPr>
          <a:xfrm>
            <a:off x="489204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</a:t>
            </a:r>
            <a:endParaRPr lang="en-US" sz="1300" dirty="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566160"/>
            <a:ext cx="219456" cy="219456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48656" y="354787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– Real-time Dashboard</a:t>
            </a:r>
            <a:endParaRPr lang="en-US" sz="1100" dirty="0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4114800"/>
            <a:ext cx="219456" cy="219456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5248656" y="4096512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– Custom Metrics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Training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11155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8321040" cy="402336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216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UCF-Crime Dataset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12080" y="12344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crcv.ucf.edu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16550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hrs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94360" y="19933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40280" y="16550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40280" y="19933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86200" y="16550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886200" y="19933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Types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0" y="1719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Anomaly detection training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2404872"/>
            <a:ext cx="83210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2404872"/>
            <a:ext cx="54864" cy="111556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11480" y="2404872"/>
            <a:ext cx="8321040" cy="402336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4780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xView Satellite Dataset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2496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xviewdataset.org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" y="29169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94360" y="32552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40280" y="29169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0.3m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240280" y="32552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86200" y="29169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886200" y="32552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0" y="298094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Object detection training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11480" y="3666744"/>
            <a:ext cx="8321040" cy="1115568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11480" y="3666744"/>
            <a:ext cx="54864" cy="11155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1480" y="3666744"/>
            <a:ext cx="8321040" cy="402336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8640" y="37398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 – Aerial Images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212080" y="37581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captain-whu.github.io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94360" y="4178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280K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94360" y="45171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240280" y="4178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2240280" y="45171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886200" y="41788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2800+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3886200" y="45171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42428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Vehicle &amp; infrastructure detection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– Weeks 1–4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1783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1783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832104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2161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1–2: Foundation &amp; Dataset Preparation</a:t>
            </a:r>
            <a:endParaRPr lang="en-US" sz="13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37360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UCF-Crime and xView datasets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737360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EDA on surveillance videos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86000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868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Python environment and Azure account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8600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7492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findings in Jupyter notebooks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11480" y="3063240"/>
            <a:ext cx="8321040" cy="1783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11480" y="3063240"/>
            <a:ext cx="54864" cy="17830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11480" y="3063240"/>
            <a:ext cx="832104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548640" y="31363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3–4: Object Detection Development</a:t>
            </a:r>
            <a:endParaRPr lang="en-US" sz="13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57600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3611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YOLOv8 model on border surveillance data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657600"/>
            <a:ext cx="201168" cy="2011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074920" y="3611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with custom annotations (Roboflow)</a:t>
            </a:r>
            <a:endParaRPr lang="en-US" sz="11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206240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68680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&gt;90% detection accuracy target</a:t>
            </a:r>
            <a:endParaRPr lang="en-US" sz="11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20624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74920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model performance (precision, recall)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– Weeks 5–8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1783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17830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832104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2161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5–6: Anomaly Detection System</a:t>
            </a:r>
            <a:endParaRPr lang="en-US" sz="13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37360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features (optical flow, spatial patterns)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737360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ensemble models (Isolation Forest + Random Forest)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86000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868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alert prioritization logic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8600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7492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validation dataset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11480" y="3063240"/>
            <a:ext cx="8321040" cy="1783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11480" y="3063240"/>
            <a:ext cx="54864" cy="1783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11480" y="3063240"/>
            <a:ext cx="832104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548640" y="31363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7–8: Azure Cloud Integration</a:t>
            </a:r>
            <a:endParaRPr lang="en-US" sz="13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57600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3611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models to Azure Functions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657600"/>
            <a:ext cx="201168" cy="2011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074920" y="3611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Blob Storage for video/frame storage</a:t>
            </a:r>
            <a:endParaRPr lang="en-US" sz="11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206240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68680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Cosmos DB for alert logs</a:t>
            </a:r>
            <a:endParaRPr lang="en-US" sz="11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20624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74920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CI/CD pipeline with GitHub Actions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– Weeks 9–12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1783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17830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832104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2161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9–10: Dashboard &amp; Visualization</a:t>
            </a:r>
            <a:endParaRPr lang="en-US" sz="13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37360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Power BI dashboard (real-time alerts, heatmaps)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737360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Streamlit web app (alternative)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86000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868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email/SMS notification system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8600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74920" y="22402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end-to-end alert flow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11480" y="3063240"/>
            <a:ext cx="8321040" cy="1783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11480" y="3063240"/>
            <a:ext cx="54864" cy="1783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11480" y="3063240"/>
            <a:ext cx="8321040" cy="41148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548640" y="31363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11–12: Testing &amp; Documentation</a:t>
            </a:r>
            <a:endParaRPr lang="en-US" sz="13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57600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3611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testing (various scenarios, stress test)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657600"/>
            <a:ext cx="201168" cy="2011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074920" y="3611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GitHub repository (clean code, README)</a:t>
            </a:r>
            <a:endParaRPr lang="en-US" sz="11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206240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68680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project report (15-20 pages)</a:t>
            </a:r>
            <a:endParaRPr lang="en-US" sz="11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20624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74920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demo video and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Success Metrics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02336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3611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02336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3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00784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50392" y="168249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YOLOv8 model (object detection)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94560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50392" y="217627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anomaly detection model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88336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0392" y="267004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Azure-deployed cloud system</a:t>
            </a:r>
            <a:endParaRPr lang="en-US" sz="11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82112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0392" y="316382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real-time dashboard</a:t>
            </a:r>
            <a:endParaRPr lang="en-US" sz="11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675888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" y="365760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GitHub repository</a:t>
            </a:r>
            <a:endParaRPr lang="en-US" sz="11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69664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50392" y="415137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 (15–20 pages)</a:t>
            </a:r>
            <a:endParaRPr lang="en-US" sz="1100" dirty="0"/>
          </a:p>
        </p:txBody>
      </p:sp>
      <p:sp>
        <p:nvSpPr>
          <p:cNvPr id="23" name="Shape 15"/>
          <p:cNvSpPr/>
          <p:nvPr/>
        </p:nvSpPr>
        <p:spPr>
          <a:xfrm>
            <a:off x="4754880" y="1143000"/>
            <a:ext cx="397764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6"/>
          <p:cNvSpPr/>
          <p:nvPr/>
        </p:nvSpPr>
        <p:spPr>
          <a:xfrm>
            <a:off x="4754880" y="1143000"/>
            <a:ext cx="54864" cy="36118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7"/>
          <p:cNvSpPr/>
          <p:nvPr/>
        </p:nvSpPr>
        <p:spPr>
          <a:xfrm>
            <a:off x="4754880" y="1143000"/>
            <a:ext cx="3977640" cy="411480"/>
          </a:xfrm>
          <a:prstGeom prst="rect">
            <a:avLst/>
          </a:prstGeom>
          <a:solidFill>
            <a:srgbClr val="1A8C82"/>
          </a:solidFill>
          <a:ln w="12700">
            <a:solidFill>
              <a:srgbClr val="1A8C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/>
          <p:nvPr/>
        </p:nvSpPr>
        <p:spPr>
          <a:xfrm>
            <a:off x="4892040" y="11887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4892040" y="171907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</a:t>
            </a:r>
            <a:endParaRPr lang="en-US" sz="2200" dirty="0"/>
          </a:p>
        </p:txBody>
      </p:sp>
      <p:sp>
        <p:nvSpPr>
          <p:cNvPr id="28" name="Text 20"/>
          <p:cNvSpPr/>
          <p:nvPr/>
        </p:nvSpPr>
        <p:spPr>
          <a:xfrm>
            <a:off x="6382512" y="1755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Accuracy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4892040" y="21488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 for surveillance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4892040" y="248716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&lt;20%</a:t>
            </a:r>
            <a:endParaRPr lang="en-US" sz="2200" dirty="0"/>
          </a:p>
        </p:txBody>
      </p:sp>
      <p:sp>
        <p:nvSpPr>
          <p:cNvPr id="31" name="Text 23"/>
          <p:cNvSpPr/>
          <p:nvPr/>
        </p:nvSpPr>
        <p:spPr>
          <a:xfrm>
            <a:off x="6382512" y="2523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4892040" y="29169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30-40% manual rate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4892040" y="3255264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 FPS</a:t>
            </a:r>
            <a:endParaRPr lang="en-US" sz="2200" dirty="0"/>
          </a:p>
        </p:txBody>
      </p:sp>
      <p:sp>
        <p:nvSpPr>
          <p:cNvPr id="34" name="Text 26"/>
          <p:cNvSpPr/>
          <p:nvPr/>
        </p:nvSpPr>
        <p:spPr>
          <a:xfrm>
            <a:off x="6382512" y="3291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Speed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4892040" y="36850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capability</a:t>
            </a:r>
            <a:endParaRPr lang="en-US" sz="950" dirty="0"/>
          </a:p>
        </p:txBody>
      </p:sp>
      <p:sp>
        <p:nvSpPr>
          <p:cNvPr id="36" name="Text 28"/>
          <p:cNvSpPr/>
          <p:nvPr/>
        </p:nvSpPr>
        <p:spPr>
          <a:xfrm>
            <a:off x="4892040" y="40233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sec</a:t>
            </a:r>
            <a:endParaRPr lang="en-US" sz="2200" dirty="0"/>
          </a:p>
        </p:txBody>
      </p:sp>
      <p:sp>
        <p:nvSpPr>
          <p:cNvPr id="37" name="Text 29"/>
          <p:cNvSpPr/>
          <p:nvPr/>
        </p:nvSpPr>
        <p:spPr>
          <a:xfrm>
            <a:off x="6382512" y="4059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Response Time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4892040" y="44531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AI System for National Security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Overview – Week 1–7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8321040" cy="68580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24358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40280" y="124358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of 12 – On Track  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Phases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2359152"/>
            <a:ext cx="8321040" cy="402336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" y="2359152"/>
            <a:ext cx="54864" cy="4023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395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Foundation (Week 1–2)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3957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Analytics, EDA, Power BI modules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834640"/>
            <a:ext cx="8321040" cy="402336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1480" y="2834640"/>
            <a:ext cx="54864" cy="402336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Machine Learning (Week 3–5)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3440" y="28712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Supervised, Unsupervised, Reinforcement Learning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3310128"/>
            <a:ext cx="8321040" cy="402336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11480" y="3310128"/>
            <a:ext cx="54864" cy="40233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33467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Deep Learning (Week 6–7)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63440" y="33467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Networks, CNN, TensorFlow/Keras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1480" y="3785616"/>
            <a:ext cx="8321040" cy="402336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1480" y="3785616"/>
            <a:ext cx="54864" cy="40233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38221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663440" y="38221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TensorFlow, OpenCV, YOLOv8, Azure account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1480" y="4261104"/>
            <a:ext cx="8321040" cy="402336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11480" y="4261104"/>
            <a:ext cx="54864" cy="402336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66928" y="42976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Collection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3440" y="42976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 surveillance frames – train/val splits organized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Overview – Ongoing Tasks (Week 8)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234440"/>
            <a:ext cx="8321040" cy="80467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54864" cy="8046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30352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132588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Annotation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6733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annotation – 680 training + 170 validation frames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8321040" cy="80467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" y="2167128"/>
            <a:ext cx="54864" cy="8046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97280" y="225856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Fine-tuning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6060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on custom surveillance dataset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099816"/>
            <a:ext cx="8321040" cy="80467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099816"/>
            <a:ext cx="54864" cy="80467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97280" y="3191256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Cloud Setup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5387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Account, Blob containers configuration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4032504"/>
            <a:ext cx="8321040" cy="804672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4032504"/>
            <a:ext cx="54864" cy="8046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0352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97280" y="4123944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447141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of anomaly detection ensemble model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16052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3611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16052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Demonstrates</a:t>
            </a:r>
            <a:endParaRPr lang="en-US" sz="12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09928"/>
            <a:ext cx="219456" cy="21945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77824" y="16916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application of AI/ML in national security</a:t>
            </a:r>
            <a:endParaRPr lang="en-US" sz="11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04288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77824" y="22860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of all Microsoft Elevate learnings (12 weeks)</a:t>
            </a:r>
            <a:endParaRPr lang="en-US" sz="11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898648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77824" y="28803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system development (data → deployment)</a:t>
            </a:r>
            <a:endParaRPr lang="en-US" sz="11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493008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77824" y="34747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skills using Azure platform</a:t>
            </a:r>
            <a:endParaRPr lang="en-US" sz="115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087368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77824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problem-solving approach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4754880" y="1143000"/>
            <a:ext cx="397764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5"/>
          <p:cNvSpPr/>
          <p:nvPr/>
        </p:nvSpPr>
        <p:spPr>
          <a:xfrm>
            <a:off x="4754880" y="1143000"/>
            <a:ext cx="54864" cy="36118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4754880" y="1143000"/>
            <a:ext cx="3977640" cy="411480"/>
          </a:xfrm>
          <a:prstGeom prst="rect">
            <a:avLst/>
          </a:prstGeom>
          <a:solidFill>
            <a:srgbClr val="1A8C82"/>
          </a:solidFill>
          <a:ln w="12700">
            <a:solidFill>
              <a:srgbClr val="1A8C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/>
          <p:nvPr/>
        </p:nvSpPr>
        <p:spPr>
          <a:xfrm>
            <a:off x="4892040" y="11887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4892040" y="1719072"/>
            <a:ext cx="411480" cy="411480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9"/>
          <p:cNvSpPr/>
          <p:nvPr/>
        </p:nvSpPr>
        <p:spPr>
          <a:xfrm>
            <a:off x="5413248" y="1737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Enhances border security through automation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892040" y="2468880"/>
            <a:ext cx="411480" cy="411480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1"/>
          <p:cNvSpPr/>
          <p:nvPr/>
        </p:nvSpPr>
        <p:spPr>
          <a:xfrm>
            <a:off x="5413248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manual monitoring burden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892040" y="3218688"/>
            <a:ext cx="411480" cy="411480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3"/>
          <p:cNvSpPr/>
          <p:nvPr/>
        </p:nvSpPr>
        <p:spPr>
          <a:xfrm>
            <a:off x="5413248" y="323697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threat detection speed and accuracy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892040" y="3968496"/>
            <a:ext cx="411480" cy="411480"/>
          </a:xfrm>
          <a:prstGeom prst="ellipse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5"/>
          <p:cNvSpPr/>
          <p:nvPr/>
        </p:nvSpPr>
        <p:spPr>
          <a:xfrm>
            <a:off x="5413248" y="39867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solution for large-scale surveillance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– Code Snippets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743200" cy="365760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54864" cy="3657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143000"/>
            <a:ext cx="2743200" cy="384048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4048" y="118872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Object Detection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1627632"/>
            <a:ext cx="2514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ultralytics import YOLO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YOLO('yolov8n.pt')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model.predict(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source='frame.jpg',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conf=0.5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 in results: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box in r.boxes: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cls = int(box.cls[0])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 = float(box.conf[0])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182112" y="1143000"/>
            <a:ext cx="2743200" cy="365760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82112" y="1143000"/>
            <a:ext cx="54864" cy="36576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182112" y="1143000"/>
            <a:ext cx="2743200" cy="384048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91840" y="118872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Ensemble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91840" y="1627632"/>
            <a:ext cx="2514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sklearn.ensemble import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IsolationForest,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RandomForestClassifier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 = IsolationForest(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contamination=0.1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iso_pred = iso.fit_predict(X)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 = RandomForestClassifier(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n_estimators=100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rf.fit(X_train, y_train)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089904" y="1143000"/>
            <a:ext cx="2743200" cy="365760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089904" y="1143000"/>
            <a:ext cx="54864" cy="36576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89904" y="1143000"/>
            <a:ext cx="2743200" cy="384048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99632" y="118872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Cloud Integration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99632" y="1627632"/>
            <a:ext cx="2514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azure.storage.blob import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BlobServiceClient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blob_svc = BlobServiceClient  .from_connection_string(conn)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= blob_svc  .get_container_client("videos")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blob = container  .get_blob_client("threat.jpg")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blob.upload_blob(data)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02336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54864" cy="3611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43000"/>
            <a:ext cx="4023360" cy="4114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UCF-Crime: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19842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crcv.ucf.edu/projects/real-world/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04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xView: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2670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xviewdataset.org/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906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3558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captain-whu.github.io/DOTA/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143000"/>
            <a:ext cx="3977640" cy="36118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1143000"/>
            <a:ext cx="54864" cy="36118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1143000"/>
            <a:ext cx="3977640" cy="411480"/>
          </a:xfrm>
          <a:prstGeom prst="rect">
            <a:avLst/>
          </a:prstGeom>
          <a:solidFill>
            <a:srgbClr val="1A8C82"/>
          </a:solidFill>
          <a:ln w="12700">
            <a:solidFill>
              <a:srgbClr val="1A8C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118872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&amp; Papers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1719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1984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docs.ultralytics.com/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92040" y="2404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azure.microsoft.com/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92040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92040" y="3355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Papers: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Real-world Anomaly Detection in Surveillance Videos (CVPR)     t</a:t>
            </a:r>
            <a:r>
              <a:rPr lang="en-US" sz="9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ensorflow.org/</a:t>
            </a:r>
            <a:endParaRPr lang="en-US" sz="950" dirty="0">
              <a:solidFill>
                <a:srgbClr val="8B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892040" y="3703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YOLOv8: Advanced Object Detection Architecture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92040" y="41879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Enhancing Border Security Through Computer Vision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references and resources available in project documentation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Outcomes – Week 1–7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Achievements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5212080" cy="36576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554480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2763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160020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7 weeks of Microsoft Elevate training modules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480" y="1993392"/>
            <a:ext cx="5212080" cy="36576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11480" y="1993392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066544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41248" y="203911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 Data Analytics, Machine Learning, Deep Learning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1480" y="2432304"/>
            <a:ext cx="5212080" cy="36576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11480" y="2432304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505456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1248" y="24780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CNN from scratch – 78% accuracy on CIFAR-10 dataset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11480" y="2871216"/>
            <a:ext cx="5212080" cy="36576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11480" y="2871216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944368"/>
            <a:ext cx="182880" cy="1828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1248" y="291693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transfer learning with VGG16 pre-trained model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11480" y="3310128"/>
            <a:ext cx="5212080" cy="36576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11480" y="3310128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38328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41248" y="33558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tested YOLOv8 on surveillance footage (30+ FPS)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411480" y="3749040"/>
            <a:ext cx="5212080" cy="36576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411480" y="3749040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822192"/>
            <a:ext cx="182880" cy="18288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41248" y="37947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850 annotated frames for custom model training</a:t>
            </a:r>
            <a:endParaRPr lang="en-US" sz="1050" dirty="0"/>
          </a:p>
        </p:txBody>
      </p:sp>
      <p:sp>
        <p:nvSpPr>
          <p:cNvPr id="32" name="Text 24"/>
          <p:cNvSpPr/>
          <p:nvPr/>
        </p:nvSpPr>
        <p:spPr>
          <a:xfrm>
            <a:off x="5852160" y="114300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YOLOv8 Performance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5852160" y="1572768"/>
            <a:ext cx="1371600" cy="77724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/>
          <p:nvPr/>
        </p:nvSpPr>
        <p:spPr>
          <a:xfrm>
            <a:off x="5852160" y="16459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FPS</a:t>
            </a:r>
            <a:endParaRPr lang="en-US" sz="2000" dirty="0"/>
          </a:p>
        </p:txBody>
      </p:sp>
      <p:sp>
        <p:nvSpPr>
          <p:cNvPr id="35" name="Text 27"/>
          <p:cNvSpPr/>
          <p:nvPr/>
        </p:nvSpPr>
        <p:spPr>
          <a:xfrm>
            <a:off x="5852160" y="20482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7360920" y="1572768"/>
            <a:ext cx="1371600" cy="77724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29"/>
          <p:cNvSpPr/>
          <p:nvPr/>
        </p:nvSpPr>
        <p:spPr>
          <a:xfrm>
            <a:off x="7360920" y="16459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7360920" y="20482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5852160" y="2459736"/>
            <a:ext cx="1371600" cy="77724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Text 32"/>
          <p:cNvSpPr/>
          <p:nvPr/>
        </p:nvSpPr>
        <p:spPr>
          <a:xfrm>
            <a:off x="5852160" y="253288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2000" dirty="0"/>
          </a:p>
        </p:txBody>
      </p:sp>
      <p:sp>
        <p:nvSpPr>
          <p:cNvPr id="41" name="Text 33"/>
          <p:cNvSpPr/>
          <p:nvPr/>
        </p:nvSpPr>
        <p:spPr>
          <a:xfrm>
            <a:off x="5852160" y="29352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</a:t>
            </a:r>
            <a:endParaRPr lang="en-US" sz="850" dirty="0"/>
          </a:p>
        </p:txBody>
      </p:sp>
      <p:sp>
        <p:nvSpPr>
          <p:cNvPr id="42" name="Shape 34"/>
          <p:cNvSpPr/>
          <p:nvPr/>
        </p:nvSpPr>
        <p:spPr>
          <a:xfrm>
            <a:off x="7360920" y="2459736"/>
            <a:ext cx="1371600" cy="77724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35"/>
          <p:cNvSpPr/>
          <p:nvPr/>
        </p:nvSpPr>
        <p:spPr>
          <a:xfrm>
            <a:off x="7360920" y="253288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2000" dirty="0"/>
          </a:p>
        </p:txBody>
      </p:sp>
      <p:sp>
        <p:nvSpPr>
          <p:cNvPr id="44" name="Text 36"/>
          <p:cNvSpPr/>
          <p:nvPr/>
        </p:nvSpPr>
        <p:spPr>
          <a:xfrm>
            <a:off x="7360920" y="29352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Backpack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5852160" y="3346704"/>
            <a:ext cx="1371600" cy="77724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Text 38"/>
          <p:cNvSpPr/>
          <p:nvPr/>
        </p:nvSpPr>
        <p:spPr>
          <a:xfrm>
            <a:off x="5852160" y="34198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2000" dirty="0"/>
          </a:p>
        </p:txBody>
      </p:sp>
      <p:sp>
        <p:nvSpPr>
          <p:cNvPr id="47" name="Text 39"/>
          <p:cNvSpPr/>
          <p:nvPr/>
        </p:nvSpPr>
        <p:spPr>
          <a:xfrm>
            <a:off x="5852160" y="3822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Confidence</a:t>
            </a:r>
            <a:endParaRPr lang="en-US" sz="850" dirty="0"/>
          </a:p>
        </p:txBody>
      </p:sp>
      <p:sp>
        <p:nvSpPr>
          <p:cNvPr id="48" name="Shape 40"/>
          <p:cNvSpPr/>
          <p:nvPr/>
        </p:nvSpPr>
        <p:spPr>
          <a:xfrm>
            <a:off x="7360920" y="3346704"/>
            <a:ext cx="1371600" cy="77724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Text 41"/>
          <p:cNvSpPr/>
          <p:nvPr/>
        </p:nvSpPr>
        <p:spPr>
          <a:xfrm>
            <a:off x="7360920" y="34198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</a:t>
            </a:r>
            <a:endParaRPr lang="en-US" sz="2000" dirty="0"/>
          </a:p>
        </p:txBody>
      </p:sp>
      <p:sp>
        <p:nvSpPr>
          <p:cNvPr id="50" name="Text 42"/>
          <p:cNvSpPr/>
          <p:nvPr/>
        </p:nvSpPr>
        <p:spPr>
          <a:xfrm>
            <a:off x="7360920" y="3822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Final Outcomes – Week 12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8321040" cy="22860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Internship 2026 | VVP Engineering College - Rajkot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170432"/>
            <a:ext cx="83210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70432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30352" y="1280160"/>
            <a:ext cx="438912" cy="43891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129844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12435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Trained YOLOv8 Model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" y="1536192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surveillance dataset, &gt;90% accuracy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1901952"/>
            <a:ext cx="83210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1901952"/>
            <a:ext cx="54864" cy="6400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0352" y="2011680"/>
            <a:ext cx="438912" cy="43891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202996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15568" y="197510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Anomaly Detection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2267712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system with &lt;20% false positive rate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2633472"/>
            <a:ext cx="83210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2633472"/>
            <a:ext cx="54864" cy="6400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30352" y="2743200"/>
            <a:ext cx="438912" cy="43891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0352" y="276148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15568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Cloud Infrastructure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15568" y="2999232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processing pipeline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3364992"/>
            <a:ext cx="83210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11480" y="3364992"/>
            <a:ext cx="54864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30352" y="3474720"/>
            <a:ext cx="438912" cy="43891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30352" y="349300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15568" y="3438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15568" y="3730752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detection metrics and alert visualization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1480" y="4096512"/>
            <a:ext cx="8321040" cy="640080"/>
          </a:xfrm>
          <a:prstGeom prst="rect">
            <a:avLst/>
          </a:prstGeom>
          <a:solidFill>
            <a:srgbClr val="111D2E"/>
          </a:solidFill>
          <a:ln w="12700">
            <a:solidFill>
              <a:srgbClr val="1E2D3D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11480" y="4096512"/>
            <a:ext cx="54864" cy="6400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0352" y="4206240"/>
            <a:ext cx="438912" cy="43891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30352" y="4224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15568" y="41696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GitHub Repository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15568" y="4462272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code, documentation, README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6858000" y="457200"/>
            <a:ext cx="2011680" cy="2011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3152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2286000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4864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Vishvarajsinh Ashoksinh Jadeja</a:t>
            </a:r>
            <a:endParaRPr lang="en-US" sz="17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3101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3291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vjadeja2711@gmail.com</a:t>
            </a:r>
            <a:endParaRPr lang="en-US" sz="1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767328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hlinkClick r:id="rId6"/>
              </a:rPr>
              <a:t>Vishu-j-04/MS-Internship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943600" y="2834640"/>
            <a:ext cx="2834640" cy="1737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6035040" y="29260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VVP Engineering College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Rajkot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035040" y="3703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2387</Words>
  <Application>Microsoft Office PowerPoint</Application>
  <PresentationFormat>On-screen Show (16:9)</PresentationFormat>
  <Paragraphs>526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 Defence &amp; Surveillance – AI-Powered System</dc:title>
  <dc:subject>PptxGenJS Presentation</dc:subject>
  <dc:creator>Vishvarajsinh Jadeja</dc:creator>
  <cp:lastModifiedBy>VISHVARAJSINH  JADEJA</cp:lastModifiedBy>
  <cp:revision>5</cp:revision>
  <dcterms:created xsi:type="dcterms:W3CDTF">2026-04-06T10:32:27Z</dcterms:created>
  <dcterms:modified xsi:type="dcterms:W3CDTF">2026-04-06T10:37:01Z</dcterms:modified>
</cp:coreProperties>
</file>