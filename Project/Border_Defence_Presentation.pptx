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0" r:id="rId4"/>
    <p:sldId id="258" r:id="rId5"/>
    <p:sldId id="259" r:id="rId6"/>
    <p:sldId id="260" r:id="rId7"/>
    <p:sldId id="28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2" r:id="rId24"/>
    <p:sldId id="283" r:id="rId25"/>
    <p:sldId id="277" r:id="rId26"/>
    <p:sldId id="284" r:id="rId27"/>
    <p:sldId id="278" r:id="rId28"/>
    <p:sldId id="285" r:id="rId29"/>
    <p:sldId id="286" r:id="rId30"/>
    <p:sldId id="279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9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64D-A1A1-CA76-5CDB-51E773B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73E0-47A7-2551-1F28-50E918DB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B831-03A0-BA36-DFA8-185A09F5C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C93BE-32BB-194D-362A-4F471A0C3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3CC3-E644-2E13-9684-56AF349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7FA1-ED5C-8FDA-E8E0-9BE2E7CC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9FFA9-A451-37BF-7278-D795C15A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2AB6-33B2-60DC-5E37-57AF59DC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3B41-1EEA-F955-7CAB-E2E980B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9A76E-1D09-5D26-A8C3-19B43E1C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6039B-2AD9-8DC1-6F7B-05CD3540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A6E5F-0C40-23CB-90B1-49832E448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63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1E85-0F7F-7756-7397-F46419C7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3DE9E-0D78-239D-8F27-2088AAF1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7F41-FE2E-63E9-A958-7236C48BE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9C30-8715-3414-A8D0-460D2376A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5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0A6-8487-4FDE-E12A-EAC7F14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E1C23-2785-EF16-4BFC-28763BCC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BB995-1640-8842-5D12-E8B8BA63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23A77-1D06-0A71-316F-FB3782A0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0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330F-96FB-2927-780F-1FF83EA4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0CE9-9CFC-0BC4-06A4-79B1641E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1796-4113-C96B-E3AA-EDCE48A6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7486B-0B74-F03E-8286-54410C1A3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0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E947-F0C0-6DB2-2A93-89B94651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4828-DCF6-29ED-760A-961DE1B8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C1872-F0C0-AC9B-7A78-255183A51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9AA6-6057-298F-70AB-D3F2CFF5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72" y="142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and Surveillance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0178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743200" y="33635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– </a:t>
            </a: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Vishvarajsinh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Jadeja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- 220470116034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Hemangi Joshi</a:t>
            </a:r>
          </a:p>
          <a:p>
            <a:pPr marL="0" indent="0" algn="ctr"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Information &amp; Communication 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VVP Engineering College - Rajkot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20C42-4CE3-9A3D-15D8-22D5427C6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9" y="194422"/>
            <a:ext cx="1610360" cy="1205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CF9136-C33B-113A-7354-B7F5610D6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124" y="-125730"/>
            <a:ext cx="1714500" cy="17145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39773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3478" y="3977394"/>
            <a:ext cx="421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39316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Timeline of Project [12 Weekly Plan]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3694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369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Project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6460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646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188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3467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3467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009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Tools &amp; Technologies Used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819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68199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362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Key Functionalities/Features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2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01727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5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Progress Overview (Current Status, Completed Phases, Ongoing Tasks)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33373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33373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915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Implementation Screenshots (Code Blocks)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5735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65735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63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Results &amp; Outcomes</a:t>
            </a:r>
            <a:endParaRPr lang="en-US" sz="1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96C8346-F8CD-98B2-7246-030FAB64786F}"/>
              </a:ext>
            </a:extLst>
          </p:cNvPr>
          <p:cNvSpPr/>
          <p:nvPr/>
        </p:nvSpPr>
        <p:spPr>
          <a:xfrm>
            <a:off x="640080" y="1006086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DEF7205-B809-AA20-FCBE-B46DFB8FBAC1}"/>
              </a:ext>
            </a:extLst>
          </p:cNvPr>
          <p:cNvSpPr/>
          <p:nvPr/>
        </p:nvSpPr>
        <p:spPr>
          <a:xfrm>
            <a:off x="6400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E4B5F3B3-95E1-7797-BDF9-9CA0EF6D3346}"/>
              </a:ext>
            </a:extLst>
          </p:cNvPr>
          <p:cNvSpPr/>
          <p:nvPr/>
        </p:nvSpPr>
        <p:spPr>
          <a:xfrm>
            <a:off x="100584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Abstract</a:t>
            </a:r>
            <a:endParaRPr lang="en-US" sz="14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4913007-0283-EBF2-2B7A-C1D8409141B0}"/>
              </a:ext>
            </a:extLst>
          </p:cNvPr>
          <p:cNvSpPr/>
          <p:nvPr/>
        </p:nvSpPr>
        <p:spPr>
          <a:xfrm>
            <a:off x="640080" y="429743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F5EA1432-364C-B599-174F-76ACD0666AA7}"/>
              </a:ext>
            </a:extLst>
          </p:cNvPr>
          <p:cNvSpPr/>
          <p:nvPr/>
        </p:nvSpPr>
        <p:spPr>
          <a:xfrm>
            <a:off x="571500" y="429743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FADBD8A-5A23-9187-0264-38825FF08ADF}"/>
              </a:ext>
            </a:extLst>
          </p:cNvPr>
          <p:cNvSpPr/>
          <p:nvPr/>
        </p:nvSpPr>
        <p:spPr>
          <a:xfrm>
            <a:off x="1005840" y="425171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271D138E-D6FE-668F-8DAA-06D8272E46D3}"/>
              </a:ext>
            </a:extLst>
          </p:cNvPr>
          <p:cNvSpPr/>
          <p:nvPr/>
        </p:nvSpPr>
        <p:spPr>
          <a:xfrm>
            <a:off x="640080" y="46174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BD2541B-22C4-3F93-B2E7-F2CC53084371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F0D71A6-F75E-BAE8-8DC2-91D94FDA9EA9}"/>
              </a:ext>
            </a:extLst>
          </p:cNvPr>
          <p:cNvSpPr/>
          <p:nvPr/>
        </p:nvSpPr>
        <p:spPr>
          <a:xfrm>
            <a:off x="1005840" y="45717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References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FD85F-55C1-71D1-64FE-03CAF954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8CAB39E0-BC54-6C2D-0C97-1C224D59BC6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B2C8416-A385-1B94-784D-752D02E5050C}"/>
              </a:ext>
            </a:extLst>
          </p:cNvPr>
          <p:cNvSpPr/>
          <p:nvPr/>
        </p:nvSpPr>
        <p:spPr>
          <a:xfrm>
            <a:off x="457200" y="272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This project develops an AI-powered border surveillance system using deep learning for real-time threat detection. The system employs YOLOv8 for object detection to identify persons, vehicles, and suspicious activities in surveillance footage at 30+ FPS.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An ensemble machine learning approach combining Isolation Forest and Random Forest algorithms performs anomaly detection to identify unusual patterns and behaviors.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system processes surveillance video feeds, extracting frames and analyzing them through a detection pipeline. Detected threats are prioritized based on confidence scores and trigger real-time alerts via email and SMS.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entire infrastructure is deployed on Microsoft Azure cloud platform, utilizing Azure Functions for serverless processing, Azure Blob Storage for video/frame storage, and Azure Cosmos DB for alert logging. A Power BI dashboard provides real-time visualization of detection metrics, anomaly heatmaps, and system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Training utilizes UCF-Crime dataset (1,900 videos, 13 anomaly types) and </a:t>
            </a:r>
            <a:r>
              <a:rPr lang="en-US" sz="1400" dirty="0" err="1">
                <a:solidFill>
                  <a:srgbClr val="CADCFC"/>
                </a:solidFill>
              </a:rPr>
              <a:t>xView</a:t>
            </a:r>
            <a:r>
              <a:rPr lang="en-US" sz="1400" dirty="0">
                <a:solidFill>
                  <a:srgbClr val="CADCFC"/>
                </a:solidFill>
              </a:rPr>
              <a:t> satellite dataset (1M+ objects). Target metrics include &gt;90% detection accuracy and &lt;20% false positive rate.</a:t>
            </a:r>
          </a:p>
        </p:txBody>
      </p:sp>
    </p:spTree>
    <p:extLst>
      <p:ext uri="{BB962C8B-B14F-4D97-AF65-F5344CB8AC3E}">
        <p14:creationId xmlns:p14="http://schemas.microsoft.com/office/powerpoint/2010/main" val="2937138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Microsoft Elevate Program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12-week intensive virtual internship program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44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Powered by Edunet Foundation &amp; FICE Education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Partnership with GTU for 8th Semester Internship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Focus: Data Analytics, ML, DL, Power BI, Azure Cloud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Industry mentorship from Microsoft-certified trainers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Hands-on labs with real-world datasets</a:t>
            </a:r>
            <a:endParaRPr lang="en-US" sz="1300" dirty="0"/>
          </a:p>
        </p:txBody>
      </p:sp>
      <p:sp>
        <p:nvSpPr>
          <p:cNvPr id="22" name="Text 2"/>
          <p:cNvSpPr/>
          <p:nvPr/>
        </p:nvSpPr>
        <p:spPr>
          <a:xfrm>
            <a:off x="457200" y="46890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Microsoft Elevate Internship Project | Jan-Apr 2026</a:t>
            </a:r>
            <a:endParaRPr lang="en-US" sz="1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- Learning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1-2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Data Analytics &amp; 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Power BI &amp; Business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Machine Learning (Supervised &amp; Unsupervised)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8-9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Deep Learning &amp; Computer Vision (CNN)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solidFill>
            <a:srgbClr val="D94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29184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Generative AI &amp; Prompt 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11-12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Microsoft Azure Cloud &amp; Deployment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During Internship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Attend weekly live sessions and complete hands-on labs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Work on real-world datasets for Data Analytics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ML pipelines (data → model → deployment)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2468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Power BI dashboards for data visualization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AI models on Microsoft Azure Cloud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Complete GTU internship project under Border Defence domain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580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Maintain GitHub repository with clean code practices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DBB98-32DE-A7CB-B38B-A76CC27E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4E357B21-78D9-5331-DD44-396FEB70730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6162253-C0B9-CB50-9EE0-C6AA93C39B3F}"/>
              </a:ext>
            </a:extLst>
          </p:cNvPr>
          <p:cNvSpPr/>
          <p:nvPr/>
        </p:nvSpPr>
        <p:spPr>
          <a:xfrm>
            <a:off x="457200" y="1038225"/>
            <a:ext cx="8229600" cy="167487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D51929-402C-67DE-DA03-BF41068B0EAF}"/>
              </a:ext>
            </a:extLst>
          </p:cNvPr>
          <p:cNvSpPr/>
          <p:nvPr/>
        </p:nvSpPr>
        <p:spPr>
          <a:xfrm>
            <a:off x="632460" y="110413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Functional Requirements: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25D3E5D-4261-23BA-57B6-4A54AA3551BE}"/>
              </a:ext>
            </a:extLst>
          </p:cNvPr>
          <p:cNvSpPr/>
          <p:nvPr/>
        </p:nvSpPr>
        <p:spPr>
          <a:xfrm>
            <a:off x="632460" y="1877568"/>
            <a:ext cx="519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object detection with YOLOv8 (persons, vehicles, suspicious objects)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Anomaly detection using ensemble ML models (Isolation Forest + Random Forest)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Video frame extraction and preprocessing (1 FPS from surveillance feeds)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Confidence-based threat prioritization and filtering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Multi-channel alert system (Email, SMS) for detected threats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Cloud storage management for videos, frames, and detection logs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dashboard visualization with Power BI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26890E4C-4945-4BB9-F583-E9756944058E}"/>
              </a:ext>
            </a:extLst>
          </p:cNvPr>
          <p:cNvSpPr/>
          <p:nvPr/>
        </p:nvSpPr>
        <p:spPr>
          <a:xfrm>
            <a:off x="457200" y="3212211"/>
            <a:ext cx="8229600" cy="1416558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3A5E0D7-FEA4-897B-B005-9BB2B0085632}"/>
              </a:ext>
            </a:extLst>
          </p:cNvPr>
          <p:cNvSpPr/>
          <p:nvPr/>
        </p:nvSpPr>
        <p:spPr>
          <a:xfrm>
            <a:off x="601980" y="32975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Non-Functional Requirements: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311CDD3-756C-F296-A1D6-067FDEEF775B}"/>
              </a:ext>
            </a:extLst>
          </p:cNvPr>
          <p:cNvSpPr/>
          <p:nvPr/>
        </p:nvSpPr>
        <p:spPr>
          <a:xfrm>
            <a:off x="601980" y="3928872"/>
            <a:ext cx="5646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Performance: Process 30+ FPS with YOLOv8, &lt;2s alert latency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Accuracy: &gt;90% detection accuracy, &lt;20% false positive rate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Scalability: Handle multiple camera feeds via Azure cloud infrastructure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Reliability: 99% uptime with Azure cloud services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Security: Encrypted data storage and secure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AI-Powered Border Surveillance System with Real-Time Anomaly Detection and Cloud-Based Alert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9FF"/>
                </a:solidFill>
              </a:rPr>
              <a:t>Applicability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National Border Security Enhancement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Automated threat detection replacing manual monitoring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Real-time alert system for security personnel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Cost-effective alternative to traditional surveillance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Scalable solution for large-scale border monitoring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54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&amp; Surveillance Challenges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Large-scale monitoring of vast border areas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threat detection due to manual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High false alarm rates (animals, weather, noise)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Limited manpower and resources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Poor data integration from sensors and cameras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Solution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automated surveillance system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</a:rPr>
              <a:t>An intelligent surveillance system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Monitors border areas using video surveillance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Automatically detects unusual activities and objects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Uses Machine Learning to identify threats in real-time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Sends prioritized alerts to security personnel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Deploys on Azure Cloud for scalability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Visualizes data through interactive Power BI dashboard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</a:rPr>
              <a:t>Technology: Computer Vision + Machine Learning + Cloud Computing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AI surveillance system from scratch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 object detection (persons, vehicles, weapons)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anomaly detection for unusual activities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Reduce false alarm rates using confidence scoring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scalable solution on Microsoft Azure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Create real-time monitoring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Align with Microsoft Elevate learning objectives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datasets (UCF-Crime, xView)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object detection model (&gt;90%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ensemble anomaly detection (Isolation Forest + RF)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Develop alert prioritization system (&lt;20% false positives)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on Azure (Functions, Blob Storage, Cosmos DB)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Power BI dashboard for real-time monitoring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Detection Module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object detection (persons, vehicles, weapons)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Frame-by-frame video analysis (30+ FPS)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Bounding box generation with confidence scores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Anomaly Detection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unusual movement patterns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 suspicious activities automatically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Machine learning-based classification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Powered by YOLOv8 + Ensemble Machine Learning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Combining state-of-the-art deep learning with traditional ML for robust threat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Alert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Priority-based alert generation (High/Medium/Low)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filtering using confidence thresholding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Notification via email/SMS for critical alerts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alert feed (last 24 hours)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Anomaly heatmap showing high-risk zones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count trends and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Seamless Integration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Video Input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544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456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AI Processing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017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4747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Alerts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4805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4747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Cloud Storage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47472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2592" y="97523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8246" y="982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 Extraction (OpenCV)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874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1106" y="1515029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3565" y="1524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Resize, Normalize, Upload to Azure Blob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1249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204965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5945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Object Detection + Anomaly Detection (Ensemble)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258318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Confidence Filtering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33" y="292091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Notification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Email/SMS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6052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5945" y="363547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364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546" y="40089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1520" y="416789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" y="41678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Azure Blob + Cosmos DB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1" y="1028700"/>
            <a:ext cx="3931920" cy="21031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Programming &amp;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3.9+ (Core language)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OpenCV (Video processing)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TensorFlow, Keras (Deep Learning)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Scikit-learn (Machine Learning)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Pandas, NumPy (Data manipulation)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Matplotlib, Seaborn (Visualization)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730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185711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Object Detection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25374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YOLOv8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8117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(Ultralytics)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industry-standard tools and frameworks for production-grade AI development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Microsoft Azure Services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15087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508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Blob Storage (Video/frame storage)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75564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1755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Functions (Serverless processing)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200253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002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Cosmos DB (Alert logs, metadata)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224942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249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Computer Vision API (Enhanced analysis)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4963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2496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Application Insights (Monitoring)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DevOps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(CI/CD)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Docker (Containerization)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49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Power BI (Dashboard)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3832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566160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DAX (Custom metrics)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26480" y="1005840"/>
            <a:ext cx="2560320" cy="3108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Azure Cloud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Scalable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Reliable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Training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UCF-Crime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128 hours of surveillance footage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1,900 videos with 13 anomaly types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Anomaly detection training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xView Satellite Dataset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 million+ annotated objects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862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0.3m resolution satellite imagery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Object detection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DOTA (Aerial Images)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794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280,000 annotated objects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05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005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15 object categories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4215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Vehicle/infrastructure detection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1-4)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1-2: Foundation &amp; Dataset Preparation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Download UCF-Crime and xView datasets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videos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Python environment and Azure account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 findings in Jupyter notebooks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3-4: Object Detection Development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model on border surveillance data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Fine-tune with custom annotations (Roboflow)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Achieve &gt;90% detection accuracy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Evaluate model performance (precision, recall)</a:t>
            </a:r>
            <a:endParaRPr lang="en-US" sz="1200" dirty="0"/>
          </a:p>
        </p:txBody>
      </p:sp>
    </p:spTree>
  </p:cSld>
  <p:clrMapOvr>
    <a:masterClrMapping/>
  </p:clrMapOvr>
  <p:transition spd="slow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5-8)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1158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5-6: Anomaly Detection System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 features (optical flow, spatial patterns)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ensemble models (Isolation Forest + Random Forest)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alert prioritization logic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on validation dataset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01445" y="2793492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7-8: Azure Cloud Integration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models to Azure Functions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Blob Storage for video/frame storage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Configure Cosmos DB for alert logs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CI/CD pipeline with GitHub Actions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9-12)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9-10: Dashboard &amp; Visualization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Power BI dashboard (real-time alerts, heatmaps)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Streamlit web app (alternative)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email/SMS notification system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end-to-end alert flow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434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11-12: Testing &amp; Documentation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System testing (various scenarios, stress test)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Complete GitHub repository (clean code, README)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Write project report (15-20 pages)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Prepare demo video and presentation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Deliverables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Trained YOLOv8 model (object detection)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Ensemble anomaly detection model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Azure-deployed cloud 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7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249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Power BI real-time dashboard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05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4963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GitHub repository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report (15-20 pages)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29808" y="1019556"/>
            <a:ext cx="3931920" cy="1965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Success Metrics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120580" y="1609344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&gt;90% (Industry standard for surveillance)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&lt;20% (Significantly better than 30-40% manual rate)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01408" y="2338578"/>
            <a:ext cx="180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&gt;20 FPS (Real-time capability)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Alert Response Time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&lt;1 sec (Instant notification)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Production-Ready AI System for National Security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363F-AD73-33A8-6A87-7BDE5810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075C83AB-C115-98F7-0411-243A48B246C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9A2337F-AAD2-F00B-BF61-7D06534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B7A11568-D560-44D3-A0E7-2C7F080B608D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(Week 1-7)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93D44A75-684B-EABF-55F6-3BB2DE91BD96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C55D45C-28D8-FF4E-C2EE-8BB0440DA0F4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Current Status: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D6F4065-BE2E-F1D1-2E07-8ED05200D621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Week 7 of 12 - On Track</a:t>
            </a:r>
            <a:endParaRPr lang="en-US" sz="12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924B378-81B2-BFE9-FBD5-8F220CA2FC97}"/>
              </a:ext>
            </a:extLst>
          </p:cNvPr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Deep Learning foundation completed (CNN, ANN, Transfer Learning)</a:t>
            </a: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9F6BC5AF-7BC7-AADA-404C-51BCA9BD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6B9E24C-D976-11FA-A59F-56BA7B45F9C9}"/>
              </a:ext>
            </a:extLst>
          </p:cNvPr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installed and tested on sample surveillance footage</a:t>
            </a:r>
            <a:endParaRPr lang="en-US" sz="12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E5A0072-A9C1-131D-2408-CDC10439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DC51A05D-AF69-43F9-AC20-5E0932F3CCED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prepared: 850 frames extracted from UCF-Crime videos</a:t>
            </a:r>
            <a:endParaRPr lang="en-US" sz="12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C737E4-BC13-0057-94ED-CB8FE15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273E4C3-8DEB-B651-4323-95C4BDEA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51" name="Shape 1">
            <a:extLst>
              <a:ext uri="{FF2B5EF4-FFF2-40B4-BE49-F238E27FC236}">
                <a16:creationId xmlns:a16="http://schemas.microsoft.com/office/drawing/2014/main" id="{8ADD8F1D-BA08-994E-504C-05EC07E167D8}"/>
              </a:ext>
            </a:extLst>
          </p:cNvPr>
          <p:cNvSpPr/>
          <p:nvPr/>
        </p:nvSpPr>
        <p:spPr>
          <a:xfrm>
            <a:off x="457200" y="2933700"/>
            <a:ext cx="8229600" cy="1844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CB8077B6-1AE9-8D8D-584D-2084D82CCDAD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Completed Phases: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5E4FE565-6C11-D4A6-6014-79E94805040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1: Foundation (Week 1-2) - Data Analytics, EDA, Power BI modules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BA894298-8A0A-FD75-BA04-5C75E44B77C5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2: Machine Learning (Week 3-5) - Supervised, Unsupervised, Reinforcement Learning 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394A255-A767-B654-1F64-75BE156F942C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3: Deep Learning (Week 6-7) - Neural Networks, CNN, TensorFlow/</a:t>
            </a:r>
            <a:r>
              <a:rPr lang="en-US" sz="1200" dirty="0" err="1">
                <a:solidFill>
                  <a:srgbClr val="CADCFC"/>
                </a:solidFill>
              </a:rPr>
              <a:t>Keras</a:t>
            </a:r>
            <a:endParaRPr lang="en-US" sz="12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0A8C5C79-A68F-D0B9-F661-C2D37BD00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59758"/>
            <a:ext cx="228600" cy="22860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id="{B85C9AF2-B2F1-E1B8-C90F-669D0839E2B3}"/>
              </a:ext>
            </a:extLst>
          </p:cNvPr>
          <p:cNvSpPr/>
          <p:nvPr/>
        </p:nvSpPr>
        <p:spPr>
          <a:xfrm>
            <a:off x="1051560" y="42054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Environment Setup - Python, TensorFlow, OpenCV, YOLOv8, Azure account</a:t>
            </a:r>
            <a:endParaRPr lang="en-US" sz="120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33EC8842-2770-C33E-A03C-8EDE4D6B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1662"/>
            <a:ext cx="228600" cy="228600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FA52E49C-0FF9-D8C5-3E09-1582BD96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7694"/>
            <a:ext cx="228600" cy="2286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1EAF5C1B-BA70-809A-68C3-379F6A26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903726"/>
            <a:ext cx="228600" cy="2286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04366092-0E70-8444-031E-BE911DDF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222"/>
            <a:ext cx="228600" cy="228600"/>
          </a:xfrm>
          <a:prstGeom prst="rect">
            <a:avLst/>
          </a:prstGeom>
        </p:spPr>
      </p:pic>
      <p:sp>
        <p:nvSpPr>
          <p:cNvPr id="62" name="Text 6">
            <a:extLst>
              <a:ext uri="{FF2B5EF4-FFF2-40B4-BE49-F238E27FC236}">
                <a16:creationId xmlns:a16="http://schemas.microsoft.com/office/drawing/2014/main" id="{E5E8D949-D87D-61B6-4904-B229261EA90F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Collection - 850 surveillance frames organized in train/</a:t>
            </a:r>
            <a:r>
              <a:rPr lang="en-US" sz="1200" dirty="0" err="1">
                <a:solidFill>
                  <a:srgbClr val="CADCFC"/>
                </a:solidFill>
              </a:rPr>
              <a:t>val</a:t>
            </a:r>
            <a:r>
              <a:rPr lang="en-US" sz="1200" dirty="0">
                <a:solidFill>
                  <a:srgbClr val="CADCFC"/>
                </a:solidFill>
              </a:rPr>
              <a:t> splits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214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80FF5-1C0E-90E2-17F7-8C29E448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41BA4956-03DE-FEB5-EFBB-2B9BC5FB11D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CEF9D98-BF4A-853B-D48F-1B12794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030E7A9E-833D-01A2-0FF9-51CBC70ED9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(Continued)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2F4B84A3-5176-9211-ECC5-872481EBBDF0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1B01FC32-CE53-B24A-336A-C5C5D42F7B97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Ongoing Tasks (Week 8):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4869A64-F93D-6CE6-D3F6-0F9AC06F0CC6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0EA056F-DC47-B89A-5E7B-D31FD53C073B}"/>
              </a:ext>
            </a:extLst>
          </p:cNvPr>
          <p:cNvSpPr/>
          <p:nvPr/>
        </p:nvSpPr>
        <p:spPr>
          <a:xfrm>
            <a:off x="624840" y="192862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Dataset annotation with bounding boxes (680 training + 170 validation frames)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YOLOv8 fine-tuning on custom surveillance dataset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Azure cloud setup (Storage Account, Blob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Implementation of anomaly detection ensemble model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BBD315F-57A8-4FF4-2382-3FAA7D154F11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DA46EDFA-9DC5-4FDB-B288-1340594D5CA5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0D9FF"/>
              </a:solidFill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221D5DB7-45F8-B1F6-AB9C-CC67D4EE874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3ACFD31-E823-BF1A-3FFE-4A31E081ED3B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C83F32B-BC77-58A7-7B06-5164A2E97A60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9A3674AD-5466-2B3E-93A4-FD30571DD570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172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9FF"/>
                </a:solidFill>
              </a:rPr>
              <a:t>This project demonstrates: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Practical application of AI/ML in national security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8745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Integration of Microsoft Elevate learnings (all 12 weeks)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2194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system development (data → deployment)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Cloud computing skills using Azure platform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2834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Real-world problem-solving approach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30403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Impact: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38328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6596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Enhances border security through automation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7588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Reduces manual monitoring burden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68496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965960" y="40142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Improves threat detection speed and accuracy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6110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965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Scalable solution for large-scale surveillance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1928D-0C17-DD18-5A83-026ACF5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AE9711-F76D-6713-D378-FDDB880EC04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Code Snippets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933059-D492-EAB0-423F-3B1AFACCBB32}"/>
              </a:ext>
            </a:extLst>
          </p:cNvPr>
          <p:cNvSpPr/>
          <p:nvPr/>
        </p:nvSpPr>
        <p:spPr>
          <a:xfrm>
            <a:off x="227863" y="1002410"/>
            <a:ext cx="2284526" cy="386562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A07E62-65C0-2771-62FC-BA2A9F1C0631}"/>
              </a:ext>
            </a:extLst>
          </p:cNvPr>
          <p:cNvSpPr/>
          <p:nvPr/>
        </p:nvSpPr>
        <p:spPr>
          <a:xfrm>
            <a:off x="363669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YOLOv8 Object Detection: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3EC3D90-8F85-A584-3550-AFF84223A777}"/>
              </a:ext>
            </a:extLst>
          </p:cNvPr>
          <p:cNvSpPr/>
          <p:nvPr/>
        </p:nvSpPr>
        <p:spPr>
          <a:xfrm>
            <a:off x="410742" y="2966430"/>
            <a:ext cx="1736007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ultralytics</a:t>
            </a:r>
            <a:r>
              <a:rPr lang="en-US" sz="1000" dirty="0">
                <a:solidFill>
                  <a:srgbClr val="CADCFC"/>
                </a:solidFill>
              </a:rPr>
              <a:t> import YOLO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Load YOLOv8 model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model = YOLO('yolov8n.pt')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Run inference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results = </a:t>
            </a:r>
            <a:r>
              <a:rPr lang="en-US" sz="1000" dirty="0" err="1">
                <a:solidFill>
                  <a:srgbClr val="CADCFC"/>
                </a:solidFill>
              </a:rPr>
              <a:t>model.predict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source='surveillance_frame.jpg',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conf=0.5,  # 50% confidence threshold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save=True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Process detections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r in results: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boxes = </a:t>
            </a:r>
            <a:r>
              <a:rPr lang="en-US" sz="1000" dirty="0" err="1">
                <a:solidFill>
                  <a:srgbClr val="CADCFC"/>
                </a:solidFill>
              </a:rPr>
              <a:t>r.boxes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for box in boxes: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 = int(</a:t>
            </a:r>
            <a:r>
              <a:rPr lang="en-US" sz="1000" dirty="0" err="1">
                <a:solidFill>
                  <a:srgbClr val="CADCFC"/>
                </a:solidFill>
              </a:rPr>
              <a:t>box.cls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conf = float(</a:t>
            </a:r>
            <a:r>
              <a:rPr lang="en-US" sz="1000" dirty="0" err="1">
                <a:solidFill>
                  <a:srgbClr val="CADCFC"/>
                </a:solidFill>
              </a:rPr>
              <a:t>box.conf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print(</a:t>
            </a:r>
            <a:r>
              <a:rPr lang="en-US" sz="1000" dirty="0" err="1">
                <a:solidFill>
                  <a:srgbClr val="CADCFC"/>
                </a:solidFill>
              </a:rPr>
              <a:t>f"Detected</a:t>
            </a:r>
            <a:r>
              <a:rPr lang="en-US" sz="1000" dirty="0">
                <a:solidFill>
                  <a:srgbClr val="CADCFC"/>
                </a:solidFill>
              </a:rPr>
              <a:t>: {</a:t>
            </a:r>
            <a:r>
              <a:rPr lang="en-US" sz="1000" dirty="0" err="1">
                <a:solidFill>
                  <a:srgbClr val="CADCFC"/>
                </a:solidFill>
              </a:rPr>
              <a:t>model.names</a:t>
            </a:r>
            <a:r>
              <a:rPr lang="en-US" sz="1000" dirty="0">
                <a:solidFill>
                  <a:srgbClr val="CADCFC"/>
                </a:solidFill>
              </a:rPr>
              <a:t>[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]}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      Confidence: {conf:.2f}")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09B2477-35ED-2326-8B1F-107E4F250DC0}"/>
              </a:ext>
            </a:extLst>
          </p:cNvPr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9FE3E1D-6FF8-C2BF-2484-AE3170ECA4BE}"/>
              </a:ext>
            </a:extLst>
          </p:cNvPr>
          <p:cNvSpPr/>
          <p:nvPr/>
        </p:nvSpPr>
        <p:spPr>
          <a:xfrm>
            <a:off x="2858727" y="1002410"/>
            <a:ext cx="2690230" cy="40667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0D2CA1-06C5-0B5A-1683-805206A7CC3B}"/>
              </a:ext>
            </a:extLst>
          </p:cNvPr>
          <p:cNvSpPr/>
          <p:nvPr/>
        </p:nvSpPr>
        <p:spPr>
          <a:xfrm>
            <a:off x="3046525" y="1096464"/>
            <a:ext cx="3050950" cy="303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Anomaly Detection Ensemble: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B2EEF42-27B3-F6EE-E9C3-16AFEA6BE111}"/>
              </a:ext>
            </a:extLst>
          </p:cNvPr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179D7E5-0D6B-F895-ADEB-D27ACF229D88}"/>
              </a:ext>
            </a:extLst>
          </p:cNvPr>
          <p:cNvSpPr/>
          <p:nvPr/>
        </p:nvSpPr>
        <p:spPr>
          <a:xfrm>
            <a:off x="6120580" y="1572993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F539724-82C7-ED61-D278-49131AA3B722}"/>
              </a:ext>
            </a:extLst>
          </p:cNvPr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B7B752B-2C21-CA81-5A26-C5524ECF11AB}"/>
              </a:ext>
            </a:extLst>
          </p:cNvPr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06A3535-A4EC-4AFC-7412-C2E9AF11A019}"/>
              </a:ext>
            </a:extLst>
          </p:cNvPr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28C21A1-E352-E23F-B5B4-E5C8AA25A9F4}"/>
              </a:ext>
            </a:extLst>
          </p:cNvPr>
          <p:cNvSpPr/>
          <p:nvPr/>
        </p:nvSpPr>
        <p:spPr>
          <a:xfrm>
            <a:off x="3066679" y="2943224"/>
            <a:ext cx="2341305" cy="57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from </a:t>
            </a:r>
            <a:r>
              <a:rPr lang="en-US" sz="1000" b="1" dirty="0" err="1">
                <a:solidFill>
                  <a:srgbClr val="00D9FF"/>
                </a:solidFill>
              </a:rPr>
              <a:t>sklearn.ensemble</a:t>
            </a:r>
            <a:r>
              <a:rPr lang="en-US" sz="1000" b="1" dirty="0">
                <a:solidFill>
                  <a:srgbClr val="00D9FF"/>
                </a:solidFill>
              </a:rPr>
              <a:t> import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endParaRPr lang="en-US" sz="1000" b="1" dirty="0">
              <a:solidFill>
                <a:srgbClr val="00D9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import </a:t>
            </a:r>
            <a:r>
              <a:rPr lang="en-US" sz="1000" b="1" dirty="0" err="1">
                <a:solidFill>
                  <a:srgbClr val="00D9FF"/>
                </a:solidFill>
              </a:rPr>
              <a:t>numpy</a:t>
            </a:r>
            <a:r>
              <a:rPr lang="en-US" sz="1000" b="1" dirty="0">
                <a:solidFill>
                  <a:srgbClr val="00D9FF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Isolation Forest for anomaly detection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iso_forest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contamination=0.1,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iso_forest.fit_predict</a:t>
            </a:r>
            <a:r>
              <a:rPr lang="en-US" sz="1000" b="1" dirty="0">
                <a:solidFill>
                  <a:srgbClr val="00D9FF"/>
                </a:solidFill>
              </a:rPr>
              <a:t>(features)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Random Forest classifier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n_estimators</a:t>
            </a:r>
            <a:r>
              <a:rPr lang="en-US" sz="1000" b="1" dirty="0">
                <a:solidFill>
                  <a:srgbClr val="00D9FF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rf_classifier.fit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X_train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y_train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rf_classifier.predict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X_test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Ensemble voting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final_predictions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np.where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== -1) |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== 1),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1, 0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DEB3535D-F703-3E0D-A21D-A387E0E7FA3D}"/>
              </a:ext>
            </a:extLst>
          </p:cNvPr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9060A2D-33A1-1C2F-A0D1-64F1B9684FE0}"/>
              </a:ext>
            </a:extLst>
          </p:cNvPr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397AF25-7CD3-6988-6D99-90390A1D3548}"/>
              </a:ext>
            </a:extLst>
          </p:cNvPr>
          <p:cNvSpPr/>
          <p:nvPr/>
        </p:nvSpPr>
        <p:spPr>
          <a:xfrm>
            <a:off x="227862" y="4685157"/>
            <a:ext cx="2309598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3ED6A3A-5795-759D-1350-F51735179B96}"/>
              </a:ext>
            </a:extLst>
          </p:cNvPr>
          <p:cNvSpPr/>
          <p:nvPr/>
        </p:nvSpPr>
        <p:spPr>
          <a:xfrm>
            <a:off x="6874347" y="1149858"/>
            <a:ext cx="2243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00D9FF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D6BBFCE-8542-CAF8-5A85-F92F1B889C57}"/>
              </a:ext>
            </a:extLst>
          </p:cNvPr>
          <p:cNvSpPr/>
          <p:nvPr/>
        </p:nvSpPr>
        <p:spPr>
          <a:xfrm>
            <a:off x="6942190" y="2667313"/>
            <a:ext cx="2157880" cy="16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CADCFC"/>
              </a:solidFill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BC2321C6-DE28-8A5A-F85E-938130622B9C}"/>
              </a:ext>
            </a:extLst>
          </p:cNvPr>
          <p:cNvSpPr/>
          <p:nvPr/>
        </p:nvSpPr>
        <p:spPr>
          <a:xfrm>
            <a:off x="5811234" y="1026413"/>
            <a:ext cx="3006460" cy="3944493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43622316-2051-5BA9-15A0-A5E4CC254FBC}"/>
              </a:ext>
            </a:extLst>
          </p:cNvPr>
          <p:cNvSpPr/>
          <p:nvPr/>
        </p:nvSpPr>
        <p:spPr>
          <a:xfrm>
            <a:off x="5994113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Azure Cloud Integration: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F64629C-9829-0564-7A40-CF1413D502D1}"/>
              </a:ext>
            </a:extLst>
          </p:cNvPr>
          <p:cNvSpPr/>
          <p:nvPr/>
        </p:nvSpPr>
        <p:spPr>
          <a:xfrm>
            <a:off x="5994113" y="2998659"/>
            <a:ext cx="2739024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azure.storage.blob</a:t>
            </a:r>
            <a:r>
              <a:rPr lang="en-US" sz="1000" dirty="0">
                <a:solidFill>
                  <a:srgbClr val="CADCFC"/>
                </a:solidFill>
              </a:rPr>
              <a:t> import BlobServiceClient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import </a:t>
            </a:r>
            <a:r>
              <a:rPr lang="en-US" sz="1000" dirty="0" err="1">
                <a:solidFill>
                  <a:srgbClr val="CADCFC"/>
                </a:solidFill>
              </a:rPr>
              <a:t>azure.functions</a:t>
            </a:r>
            <a:r>
              <a:rPr lang="en-US" sz="1000" dirty="0">
                <a:solidFill>
                  <a:srgbClr val="CADCFC"/>
                </a:solidFill>
              </a:rPr>
              <a:t> as </a:t>
            </a:r>
            <a:r>
              <a:rPr lang="en-US" sz="1000" dirty="0" err="1">
                <a:solidFill>
                  <a:srgbClr val="CADCFC"/>
                </a:solidFill>
              </a:rPr>
              <a:t>func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Upload to Azure Blob Storage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blob_service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BlobServiceClient.from_connection_string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conn_str</a:t>
            </a: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container = </a:t>
            </a:r>
            <a:r>
              <a:rPr lang="en-US" sz="1000" dirty="0" err="1">
                <a:solidFill>
                  <a:srgbClr val="CADCFC"/>
                </a:solidFill>
              </a:rPr>
              <a:t>blob_service.get_container_client</a:t>
            </a:r>
            <a:r>
              <a:rPr lang="en-US" sz="1000" dirty="0">
                <a:solidFill>
                  <a:srgbClr val="CADCFC"/>
                </a:solidFill>
              </a:rPr>
              <a:t>("surveillance-videos")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container.get_blob_client</a:t>
            </a:r>
            <a:r>
              <a:rPr lang="en-US" sz="1000" dirty="0">
                <a:solidFill>
                  <a:srgbClr val="CADCFC"/>
                </a:solidFill>
              </a:rPr>
              <a:t>("detected_threat.jpg")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blob_client.upload_blob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image_data</a:t>
            </a:r>
            <a:r>
              <a:rPr lang="en-US" sz="1000" dirty="0">
                <a:solidFill>
                  <a:srgbClr val="CADCFC"/>
                </a:solidFill>
              </a:rPr>
              <a:t>, overwrite=True)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Azure Function for alert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def main(req: </a:t>
            </a:r>
            <a:r>
              <a:rPr lang="en-US" sz="1000" dirty="0" err="1">
                <a:solidFill>
                  <a:srgbClr val="CADCFC"/>
                </a:solidFill>
              </a:rPr>
              <a:t>func.HttpRequest</a:t>
            </a:r>
            <a:r>
              <a:rPr lang="en-US" sz="1000" dirty="0">
                <a:solidFill>
                  <a:srgbClr val="CADCFC"/>
                </a:solidFill>
              </a:rPr>
              <a:t>) -&gt;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req.get_json</a:t>
            </a:r>
            <a:r>
              <a:rPr lang="en-US" sz="1000" dirty="0">
                <a:solidFill>
                  <a:srgbClr val="CADCFC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if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['confidence'] &gt; 0.8: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send_alert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)  # Trigger email/SMS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return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("Alert processed", </a:t>
            </a:r>
            <a:r>
              <a:rPr lang="en-US" sz="1000" dirty="0" err="1">
                <a:solidFill>
                  <a:srgbClr val="CADCFC"/>
                </a:solidFill>
              </a:rPr>
              <a:t>status_code</a:t>
            </a:r>
            <a:r>
              <a:rPr lang="en-US" sz="1000" dirty="0">
                <a:solidFill>
                  <a:srgbClr val="CADCFC"/>
                </a:solidFill>
              </a:rPr>
              <a:t>=200)</a:t>
            </a:r>
          </a:p>
        </p:txBody>
      </p:sp>
    </p:spTree>
    <p:extLst>
      <p:ext uri="{BB962C8B-B14F-4D97-AF65-F5344CB8AC3E}">
        <p14:creationId xmlns:p14="http://schemas.microsoft.com/office/powerpoint/2010/main" val="1757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UCF-Crime: crcv.ucf.edu/projects/real-world/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xView: xviewdataset.org/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DOTA: captain-whu.github.io/DOTA/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docs.ultralytics.com/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Microsoft Azure: azure.microsoft.com/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TensorFlow: tensorflow.org/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Research Papers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Real-world Anomaly Detection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Surveillance Videos (CVPR)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Advanced Object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Enhancing Border Security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All references and resources available in project documentation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1A7B8-E320-89B3-AD3B-B6A8FEE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25D5F3A-D75F-7B0E-F269-8440D34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1F4091-2E84-B96D-F796-DDD70FB531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6B35"/>
                </a:solidFill>
              </a:rPr>
              <a:t>Results &amp; Outcomes (Week 1-7)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17ECF2-B761-409F-7E8B-C065CDCED37C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ECFE6A3-9999-EC41-F8CC-BDC606761E81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C95D2A-6031-3FAA-8258-B06C19657A72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Achievements: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5EE2B0-708F-0AA8-EFBC-C4CCE2E32C8E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2E7ECE-FCE6-3E9B-DC2D-90FE9864D0AC}"/>
              </a:ext>
            </a:extLst>
          </p:cNvPr>
          <p:cNvSpPr/>
          <p:nvPr/>
        </p:nvSpPr>
        <p:spPr>
          <a:xfrm>
            <a:off x="685800" y="204063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Completed 7 weeks of Microsoft Elevate training modules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Mastered Data Analytics, Machine Learning, Deep Learning concepts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Built CNN from scratch - achieved 78% accuracy on CIFAR-10 dataset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Implemented transfer learning with VGG16 pre-trained model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Successfully tested YOLOv8 on surveillance footage (30+ FPS performance)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Prepared 850 annotated frames for custom model training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A72563-A449-687C-6E58-FADF1A247CB1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1957A2-7D91-5C5B-F8CE-7E31BFC60CE2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269A60-9509-6C18-CC8C-D845174455F0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FFC225-46CA-20D8-3072-C093B8FD243F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7AC85A-B5EE-C983-7187-A1451B7AD287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72F4F6C-0DB6-1863-64ED-2FFC8956FA43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7D83E7-14F3-8D0F-11EE-A6E5A7002F66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90F613B-0BCF-D991-1462-E71CA010029A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5F2152E-5D04-6720-9275-9E4092C09F0B}"/>
              </a:ext>
            </a:extLst>
          </p:cNvPr>
          <p:cNvSpPr/>
          <p:nvPr/>
        </p:nvSpPr>
        <p:spPr>
          <a:xfrm>
            <a:off x="457200" y="3235452"/>
            <a:ext cx="8229600" cy="116738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1C2ACA6-22AA-1E07-A1DF-E088BD8CBA28}"/>
              </a:ext>
            </a:extLst>
          </p:cNvPr>
          <p:cNvSpPr/>
          <p:nvPr/>
        </p:nvSpPr>
        <p:spPr>
          <a:xfrm>
            <a:off x="457200" y="3235452"/>
            <a:ext cx="91440" cy="116738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CFD9D820-F39A-16A6-4C58-62519D17E4D6}"/>
              </a:ext>
            </a:extLst>
          </p:cNvPr>
          <p:cNvSpPr/>
          <p:nvPr/>
        </p:nvSpPr>
        <p:spPr>
          <a:xfrm>
            <a:off x="685800" y="33268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Pre-trained YOLOv8 Performance: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34B7DD2-E956-2A0E-C9F8-54A9D359E795}"/>
              </a:ext>
            </a:extLst>
          </p:cNvPr>
          <p:cNvSpPr/>
          <p:nvPr/>
        </p:nvSpPr>
        <p:spPr>
          <a:xfrm>
            <a:off x="685800" y="38907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YOLOv8n (nano): ~30 FPS, 640x640 input, 3.2M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Detection Accuracy: Person (92%), Vehicle (88%), Backpack (85%)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Average Confidence Score: 0.76 for valid detections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False Positive Rate: ~15% on test surveillance footage</a:t>
            </a:r>
          </a:p>
        </p:txBody>
      </p:sp>
    </p:spTree>
    <p:extLst>
      <p:ext uri="{BB962C8B-B14F-4D97-AF65-F5344CB8AC3E}">
        <p14:creationId xmlns:p14="http://schemas.microsoft.com/office/powerpoint/2010/main" val="1160278623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A1EEC-B71C-7164-F3A8-35A0E44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2C6DB66-DFED-E002-481D-F307DFB1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ED2969-163A-B746-F060-CBD3C586688C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6"/>
                </a:solidFill>
              </a:rPr>
              <a:t>Expected Final Outcomes (Week 12):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615CD4C-1894-296C-1CFB-B8A0248DAEE3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60D0CC-0398-35A7-658E-56F959384E1E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49EC98-6B48-CC0E-3CEF-FFFEE5FC4C43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FB25BB-D52C-2F95-3A8A-E07CF25DAE1C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E4A8A2-D043-7BAF-28CE-88A644C41409}"/>
              </a:ext>
            </a:extLst>
          </p:cNvPr>
          <p:cNvSpPr/>
          <p:nvPr/>
        </p:nvSpPr>
        <p:spPr>
          <a:xfrm>
            <a:off x="685800" y="18638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Fully trained YOLOv8 model on custom surveillance dataset (&gt;90% accuracy)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Deployed anomaly detection system with &lt;20% false positive rate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Functional Azure cloud infrastructure with real-time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Power BI dashboard with live detection metrics and alert visualization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Complete project documentation and GitHub repository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3BD7432-F84E-65F0-FE09-ED5DFECFAB3C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3BE996-B77F-6994-03A5-637BBC09B7ED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146C9F0-9100-0255-9556-3921953E00E2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8B4571-B5C8-6B45-55E7-E800C5F4233A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6ACA7F-DF5C-9FA1-0F42-4CD52B23D3B2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5359B0-32AD-A851-310B-0B9DD388F664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A916E38-1E45-772F-5820-16C929BE6DC3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98793A7-A5B7-C646-AD71-916A983FE5EE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23231"/>
      </p:ext>
    </p:extLst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715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3361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D9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182761" y="2780144"/>
            <a:ext cx="4492359" cy="139003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468880" y="2871069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Contact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315423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ADCFC"/>
                </a:solidFill>
              </a:rPr>
              <a:t>Vishvarajsinh</a:t>
            </a:r>
            <a:r>
              <a:rPr lang="en-US" sz="1100" dirty="0">
                <a:solidFill>
                  <a:srgbClr val="CADCFC"/>
                </a:solidFill>
              </a:rPr>
              <a:t> </a:t>
            </a:r>
            <a:r>
              <a:rPr lang="en-US" sz="1100" dirty="0" err="1">
                <a:solidFill>
                  <a:srgbClr val="CADCFC"/>
                </a:solidFill>
              </a:rPr>
              <a:t>Ashoksinh</a:t>
            </a:r>
            <a:r>
              <a:rPr lang="en-US" sz="1100" dirty="0">
                <a:solidFill>
                  <a:srgbClr val="CADCFC"/>
                </a:solidFill>
              </a:rPr>
              <a:t> Jadeja</a:t>
            </a:r>
          </a:p>
        </p:txBody>
      </p:sp>
      <p:sp>
        <p:nvSpPr>
          <p:cNvPr id="8" name="Text 5"/>
          <p:cNvSpPr/>
          <p:nvPr/>
        </p:nvSpPr>
        <p:spPr>
          <a:xfrm>
            <a:off x="2468880" y="338372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Email: vjadeja2711@gmail.com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636805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</a:rPr>
              <a:t>GitHub: https://github.com/jainilgupta02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3886421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LinkedIn: https://linkedin.com/in/jainilgupta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SAL Institute of Technology and Engineering Research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Microsoft Elevate Internship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der_Defence_Presentation" id="{9E4F15CF-6B86-494D-9959-3096D1BA2AB0}" vid="{5DD214B2-4F19-4E61-B85D-15F74B796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2581</Words>
  <Application>Microsoft Office PowerPoint</Application>
  <PresentationFormat>On-screen Show (16:9)</PresentationFormat>
  <Paragraphs>497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Defence and Surveillance - AI-Powered System</dc:title>
  <dc:subject>PptxGenJS Presentation</dc:subject>
  <dc:creator>Jay Gupta</dc:creator>
  <cp:lastModifiedBy>VISHVARAJSINH  JADEJA</cp:lastModifiedBy>
  <cp:revision>13</cp:revision>
  <dcterms:created xsi:type="dcterms:W3CDTF">2026-02-06T17:39:37Z</dcterms:created>
  <dcterms:modified xsi:type="dcterms:W3CDTF">2026-04-06T09:18:23Z</dcterms:modified>
</cp:coreProperties>
</file>