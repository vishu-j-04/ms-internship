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0" r:id="rId4"/>
    <p:sldId id="258" r:id="rId5"/>
    <p:sldId id="259" r:id="rId6"/>
    <p:sldId id="260" r:id="rId7"/>
    <p:sldId id="281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82" r:id="rId24"/>
    <p:sldId id="283" r:id="rId25"/>
    <p:sldId id="277" r:id="rId26"/>
    <p:sldId id="284" r:id="rId27"/>
    <p:sldId id="278" r:id="rId28"/>
    <p:sldId id="285" r:id="rId29"/>
    <p:sldId id="286" r:id="rId30"/>
    <p:sldId id="279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79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3164D-A1A1-CA76-5CDB-51E773B9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673E0-47A7-2551-1F28-50E918DB7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5B831-03A0-BA36-DFA8-185A09F5C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C93BE-32BB-194D-362A-4F471A0C3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48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E3CC3-E644-2E13-9684-56AF349F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37FA1-ED5C-8FDA-E8E0-9BE2E7CC5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9FFA9-A451-37BF-7278-D795C15A2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F2AB6-33B2-60DC-5E37-57AF59DC25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03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93B41-1EEA-F955-7CAB-E2E980B6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9A76E-1D09-5D26-A8C3-19B43E1CF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6039B-2AD9-8DC1-6F7B-05CD35402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A6E5F-0C40-23CB-90B1-49832E448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632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B1E85-0F7F-7756-7397-F46419C7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3DE9E-0D78-239D-8F27-2088AAF1D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A7F41-FE2E-63E9-A958-7236C48BE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19C30-8715-3414-A8D0-460D2376AC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353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60A6-8487-4FDE-E12A-EAC7F14B4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E1C23-2785-EF16-4BFC-28763BCCE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BB995-1640-8842-5D12-E8B8BA63A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23A77-1D06-0A71-316F-FB3782A01E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09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330F-96FB-2927-780F-1FF83EA4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20CE9-9CFC-0BC4-06A4-79B1641EF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31796-4113-C96B-E3AA-EDCE48A6E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7486B-0B74-F03E-8286-54410C1A3F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905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EE947-F0C0-6DB2-2A93-89B94651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C4828-DCF6-29ED-760A-961DE1B8A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C1872-F0C0-AC9B-7A78-255183A51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E9AA6-6057-298F-70AB-D3F2CFF56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155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77958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972" y="142095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Defence and Surveillance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201784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System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743200" y="33635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– </a:t>
            </a:r>
            <a:r>
              <a:rPr lang="en-IN" sz="20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Vishvarajsinh</a:t>
            </a: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Ashoksinh</a:t>
            </a: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Jadeja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</a:t>
            </a: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- 220470116034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– Hemangi Joshi</a:t>
            </a:r>
          </a:p>
          <a:p>
            <a:pPr marL="0" indent="0" algn="ctr">
              <a:buNone/>
            </a:pP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828800" y="4480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Information &amp; Communication Technology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4709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VVP Engineering College - Rajkot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A20C42-4CE3-9A3D-15D8-22D5427C60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59" y="194422"/>
            <a:ext cx="1337369" cy="100124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397739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3478" y="3977394"/>
            <a:ext cx="421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393167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Timeline of Project [12 Weekly Plan]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336941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33694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Project Overview &amp; Objectives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64601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66460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61888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Software Requirements Specification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1965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Company Profile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34671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34671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30099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Tools &amp; Technologies Used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268199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68199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63627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Key Functionalities/Features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01727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01727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97155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Progress Overview (Current Status, Completed Phases, Ongoing Tasks)</a:t>
            </a:r>
          </a:p>
        </p:txBody>
      </p:sp>
      <p:sp>
        <p:nvSpPr>
          <p:cNvPr id="24" name="Shape 22"/>
          <p:cNvSpPr/>
          <p:nvPr/>
        </p:nvSpPr>
        <p:spPr>
          <a:xfrm>
            <a:off x="640080" y="333731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33731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29159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Implementation Screenshots (Code Blocks)</a:t>
            </a:r>
          </a:p>
        </p:txBody>
      </p:sp>
      <p:sp>
        <p:nvSpPr>
          <p:cNvPr id="27" name="Shape 25"/>
          <p:cNvSpPr/>
          <p:nvPr/>
        </p:nvSpPr>
        <p:spPr>
          <a:xfrm>
            <a:off x="640080" y="365735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365735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61163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Results &amp; Outcomes</a:t>
            </a:r>
            <a:endParaRPr lang="en-US" sz="1400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A96C8346-F8CD-98B2-7246-030FAB64786F}"/>
              </a:ext>
            </a:extLst>
          </p:cNvPr>
          <p:cNvSpPr/>
          <p:nvPr/>
        </p:nvSpPr>
        <p:spPr>
          <a:xfrm>
            <a:off x="640080" y="1006086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1DEF7205-B809-AA20-FCBE-B46DFB8FBAC1}"/>
              </a:ext>
            </a:extLst>
          </p:cNvPr>
          <p:cNvSpPr/>
          <p:nvPr/>
        </p:nvSpPr>
        <p:spPr>
          <a:xfrm>
            <a:off x="640080" y="10058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</a:t>
            </a:r>
            <a:endParaRPr lang="en-US" sz="11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E4B5F3B3-95E1-7797-BDF9-9CA0EF6D3346}"/>
              </a:ext>
            </a:extLst>
          </p:cNvPr>
          <p:cNvSpPr/>
          <p:nvPr/>
        </p:nvSpPr>
        <p:spPr>
          <a:xfrm>
            <a:off x="1005840" y="960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Abstract</a:t>
            </a:r>
            <a:endParaRPr lang="en-US" sz="1400" dirty="0"/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D4913007-0283-EBF2-2B7A-C1D8409141B0}"/>
              </a:ext>
            </a:extLst>
          </p:cNvPr>
          <p:cNvSpPr/>
          <p:nvPr/>
        </p:nvSpPr>
        <p:spPr>
          <a:xfrm>
            <a:off x="640080" y="429743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F5EA1432-364C-B599-174F-76ACD0666AA7}"/>
              </a:ext>
            </a:extLst>
          </p:cNvPr>
          <p:cNvSpPr/>
          <p:nvPr/>
        </p:nvSpPr>
        <p:spPr>
          <a:xfrm>
            <a:off x="571500" y="429743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11</a:t>
            </a:r>
            <a:endParaRPr lang="en-US" sz="1100" dirty="0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4FADBD8A-5A23-9187-0264-38825FF08ADF}"/>
              </a:ext>
            </a:extLst>
          </p:cNvPr>
          <p:cNvSpPr/>
          <p:nvPr/>
        </p:nvSpPr>
        <p:spPr>
          <a:xfrm>
            <a:off x="1005840" y="425171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Conclusion &amp; Future Scope</a:t>
            </a:r>
            <a:endParaRPr lang="en-US" sz="1400" dirty="0"/>
          </a:p>
        </p:txBody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271D138E-D6FE-668F-8DAA-06D8272E46D3}"/>
              </a:ext>
            </a:extLst>
          </p:cNvPr>
          <p:cNvSpPr/>
          <p:nvPr/>
        </p:nvSpPr>
        <p:spPr>
          <a:xfrm>
            <a:off x="640080" y="461747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1BD2541B-22C4-3F93-B2E7-F2CC53084371}"/>
              </a:ext>
            </a:extLst>
          </p:cNvPr>
          <p:cNvSpPr/>
          <p:nvPr/>
        </p:nvSpPr>
        <p:spPr>
          <a:xfrm>
            <a:off x="571500" y="461747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12</a:t>
            </a:r>
            <a:endParaRPr lang="en-US" sz="1100" dirty="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CF0D71A6-F75E-BAE8-8DC2-91D94FDA9EA9}"/>
              </a:ext>
            </a:extLst>
          </p:cNvPr>
          <p:cNvSpPr/>
          <p:nvPr/>
        </p:nvSpPr>
        <p:spPr>
          <a:xfrm>
            <a:off x="1005840" y="457175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References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FD85F-55C1-71D1-64FE-03CAF9544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>
            <a:extLst>
              <a:ext uri="{FF2B5EF4-FFF2-40B4-BE49-F238E27FC236}">
                <a16:creationId xmlns:a16="http://schemas.microsoft.com/office/drawing/2014/main" id="{8CAB39E0-BC54-6C2D-0C97-1C224D59BC6B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FB2C8416-A385-1B94-784D-752D02E5050C}"/>
              </a:ext>
            </a:extLst>
          </p:cNvPr>
          <p:cNvSpPr/>
          <p:nvPr/>
        </p:nvSpPr>
        <p:spPr>
          <a:xfrm>
            <a:off x="457200" y="2727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This project develops an AI-powered border surveillance system using deep learning for real-time threat detection. The system employs YOLOv8 for object detection to identify persons, vehicles, and suspicious activities in surveillance footage at 30+ FPS.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An ensemble machine learning approach combining Isolation Forest and Random Forest algorithms performs anomaly detection to identify unusual patterns and behaviors.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The system processes surveillance video feeds, extracting frames and analyzing them through a detection pipeline. Detected threats are prioritized based on confidence scores and trigger real-time alerts via email and SMS.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The entire infrastructure is deployed on Microsoft Azure cloud platform, utilizing Azure Functions for serverless processing, Azure Blob Storage for video/frame storage, and Azure Cosmos DB for alert logging. A Power BI dashboard provides real-time visualization of detection metrics, anomaly heatmaps, and system performance.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Training utilizes UCF-Crime dataset (1,900 videos, 13 anomaly types) and </a:t>
            </a:r>
            <a:r>
              <a:rPr lang="en-US" sz="1400" dirty="0" err="1">
                <a:solidFill>
                  <a:srgbClr val="CADCFC"/>
                </a:solidFill>
              </a:rPr>
              <a:t>xView</a:t>
            </a:r>
            <a:r>
              <a:rPr lang="en-US" sz="1400" dirty="0">
                <a:solidFill>
                  <a:srgbClr val="CADCFC"/>
                </a:solidFill>
              </a:rPr>
              <a:t> satellite dataset (1M+ objects). Target metrics include &gt;90% detection accuracy and &lt;20% false positive rate.</a:t>
            </a:r>
          </a:p>
        </p:txBody>
      </p:sp>
    </p:spTree>
    <p:extLst>
      <p:ext uri="{BB962C8B-B14F-4D97-AF65-F5344CB8AC3E}">
        <p14:creationId xmlns:p14="http://schemas.microsoft.com/office/powerpoint/2010/main" val="29371381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Microsoft Elevate Program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23444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234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12-week intensive virtual internship program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66344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3444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12080" y="1234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Powered by Edunet Foundation &amp; FICE Education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457200" y="228600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42316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4231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Partnership with GTU for 8th Semester Internship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4663440" y="228600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42316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12080" y="24231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Focus: Data Analytics, ML, DL, Power BI, Azure Cloud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457200" y="3474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611880"/>
            <a:ext cx="320040" cy="3200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5840" y="36118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Industry mentorship from Microsoft-certified trainers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4663440" y="3474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611880"/>
            <a:ext cx="320040" cy="3200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12080" y="36118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Hands-on labs with real-world datasets</a:t>
            </a:r>
            <a:endParaRPr lang="en-US" sz="1300" dirty="0"/>
          </a:p>
        </p:txBody>
      </p:sp>
      <p:sp>
        <p:nvSpPr>
          <p:cNvPr id="22" name="Text 2"/>
          <p:cNvSpPr/>
          <p:nvPr/>
        </p:nvSpPr>
        <p:spPr>
          <a:xfrm>
            <a:off x="457200" y="468904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</a:rPr>
              <a:t>Microsoft Elevate Internship Project | Jan-Apr 2026</a:t>
            </a:r>
            <a:endParaRPr lang="en-US" sz="1600" dirty="0"/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Elevate - Learning Modules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1-2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20240" y="109728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031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Data Analytics &amp; EDA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3-5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0240" y="164592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0312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Power BI &amp; Business Intelligence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137160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6-7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20240" y="219456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0312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Machine Learning (Supervised &amp; Unsupervised)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1371600" cy="4572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8-9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20240" y="274320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0312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Deep Learning &amp; Computer Vision (CNN)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1371600" cy="457200"/>
          </a:xfrm>
          <a:prstGeom prst="rect">
            <a:avLst/>
          </a:prstGeom>
          <a:solidFill>
            <a:srgbClr val="D94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920240" y="329184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10312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Generative AI &amp; Prompt Engineering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1371600" cy="45720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11-12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920240" y="384048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10312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Microsoft Azure Cloud &amp; Deployment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 During Internship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8580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Attend weekly live sessions and complete hands-on labs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1554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Work on real-world datasets for Data Analytics &amp; ML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20116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Build end-to-end ML pipelines (data → model → deployment)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24688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Develop Power BI dashboards for data visualization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5800" y="29260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Deploy AI models on Microsoft Azure Cloud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3383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Complete GTU internship project under Border Defence domain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8404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5800" y="3840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Maintain GitHub repository with clean code practices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DBB98-32DE-A7CB-B38B-A76CC27E5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4E357B21-78D9-5331-DD44-396FEB707309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</a:t>
            </a: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E6162253-C0B9-CB50-9EE0-C6AA93C39B3F}"/>
              </a:ext>
            </a:extLst>
          </p:cNvPr>
          <p:cNvSpPr/>
          <p:nvPr/>
        </p:nvSpPr>
        <p:spPr>
          <a:xfrm>
            <a:off x="457200" y="1038225"/>
            <a:ext cx="8229600" cy="1674876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18D51929-402C-67DE-DA03-BF41068B0EAF}"/>
              </a:ext>
            </a:extLst>
          </p:cNvPr>
          <p:cNvSpPr/>
          <p:nvPr/>
        </p:nvSpPr>
        <p:spPr>
          <a:xfrm>
            <a:off x="632460" y="110413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Functional Requirements:</a:t>
            </a: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125D3E5D-4261-23BA-57B6-4A54AA3551BE}"/>
              </a:ext>
            </a:extLst>
          </p:cNvPr>
          <p:cNvSpPr/>
          <p:nvPr/>
        </p:nvSpPr>
        <p:spPr>
          <a:xfrm>
            <a:off x="632460" y="1877568"/>
            <a:ext cx="5196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Real-time object detection with YOLOv8 (persons, vehicles, suspicious objects)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Anomaly detection using ensemble ML models (Isolation Forest + Random Forest)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Video frame extraction and preprocessing (1 FPS from surveillance feeds)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Confidence-based threat prioritization and filtering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Multi-channel alert system (Email, SMS) for detected threats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Cloud storage management for videos, frames, and detection logs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Real-time dashboard visualization with Power BI</a:t>
            </a:r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26890E4C-4945-4BB9-F583-E9756944058E}"/>
              </a:ext>
            </a:extLst>
          </p:cNvPr>
          <p:cNvSpPr/>
          <p:nvPr/>
        </p:nvSpPr>
        <p:spPr>
          <a:xfrm>
            <a:off x="457200" y="3212211"/>
            <a:ext cx="8229600" cy="1416558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E3A5E0D7-FEA4-897B-B005-9BB2B0085632}"/>
              </a:ext>
            </a:extLst>
          </p:cNvPr>
          <p:cNvSpPr/>
          <p:nvPr/>
        </p:nvSpPr>
        <p:spPr>
          <a:xfrm>
            <a:off x="601980" y="329755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Non-Functional Requirements:</a:t>
            </a: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C311CDD3-756C-F296-A1D6-067FDEEF775B}"/>
              </a:ext>
            </a:extLst>
          </p:cNvPr>
          <p:cNvSpPr/>
          <p:nvPr/>
        </p:nvSpPr>
        <p:spPr>
          <a:xfrm>
            <a:off x="601980" y="3928872"/>
            <a:ext cx="5646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Performance: Process 30+ FPS with YOLOv8, &lt;2s alert latency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Accuracy: &gt;90% detection accuracy, &lt;20% false positive rate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Scalability: Handle multiple camera feeds via Azure cloud infrastructure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Reliability: 99% uptime with Azure cloud services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Security: Encrypted data storage and secure API endpoints</a:t>
            </a:r>
          </a:p>
        </p:txBody>
      </p:sp>
    </p:spTree>
    <p:extLst>
      <p:ext uri="{BB962C8B-B14F-4D97-AF65-F5344CB8AC3E}">
        <p14:creationId xmlns:p14="http://schemas.microsoft.com/office/powerpoint/2010/main" val="41548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Project Title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AI-Powered Border Surveillance System with Real-Time Anomaly Detection and Cloud-Based Alert Management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9FF"/>
                </a:solidFill>
              </a:rPr>
              <a:t>Applicability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468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National Border Security Enhancement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346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880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Automated threat detection replacing manual monitoring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461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Real-time alert system for security personnel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703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Cost-effective alternative to traditional surveillance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6908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Scalable solution for large-scale border monitoring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54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Defence &amp; Surveillance Challenges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9FF"/>
                </a:solidFill>
              </a:rPr>
              <a:t>Key Issues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Large-scale monitoring of vast border areas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Delayed threat detection due to manual analysis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2194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High false alarm rates (animals, weather, noise)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Limited manpower and resources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1752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Poor data integration from sensors and cameras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0" y="1005840"/>
            <a:ext cx="3657600" cy="2743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280160"/>
            <a:ext cx="914400" cy="914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120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Solution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303520" y="2743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AI-powered automated surveillance system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 About?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D9FF"/>
                </a:solidFill>
              </a:rPr>
              <a:t>An intelligent surveillance system that: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600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Monitors border areas using video surveillance data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146304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6002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1600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Automatically detects unusual activities and objects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251460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6517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Uses Machine Learning to identify threats in real-time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663440" y="251460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65176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208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Sends prioritized alerts to security personnel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57200" y="356616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70332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3703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Deploys on Azure Cloud for scalability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663440" y="356616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70332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3703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Visualizes data through interactive Power BI dashboard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</a:rPr>
              <a:t>Technology: Computer Vision + Machine Learning + Cloud Computing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601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Build end-to-end AI surveillance system from scratch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554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Implement object detection (persons, vehicles, weapons)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0574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Develop anomaly detection for unusual activities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25146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Reduce false alarm rates using confidence scoring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Deploy scalable solution on Microsoft Azure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4290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Create real-time monitoring dashboard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4864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601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Align with Microsoft Elevate learning objectives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Perform EDA on surveillance datasets (UCF-Crime, xView)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188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12344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YOLOv8 object detection model (&gt;90% accuracy)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468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ensemble anomaly detection (Isolation Forest + RF)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2468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Develop alert prioritization system (&lt;20% false positives)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657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37033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 on Azure (Functions, Blob Storage, Cosmos DB)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56616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356616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3657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74920" y="37033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Create Power BI dashboard for real-time monitoring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Detection Module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691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Real-time object detection (persons, vehicles, weapons)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1965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Frame-by-frame video analysis (30+ FPS)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2402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240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Bounding box generation with confidence scores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Anomaly Detection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37760" y="16916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1691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Identify unusual movement patterns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37760" y="1965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20640" y="1965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 suspicious activities automatically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37760" y="22402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120640" y="2240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Machine learning-based classification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Powered by YOLOv8 + Ensemble Machine Learning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Combining state-of-the-art deep learning with traditional ML for robust threat detection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(Continued)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Alert System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Priority-based alert generation (High/Medium/Low)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057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False positive filtering using confidence thresholding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Notification via email/SMS for critical alerts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Dashboard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37760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Real-time alert feed (last 24 hours)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37760" y="2057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2064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Anomaly heatmap showing high-risk zones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3776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12064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Detection count trends and analytics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Seamless Integration</a:t>
            </a:r>
            <a:endParaRPr lang="en-US" sz="2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7472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152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Video Input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55448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34747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19456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AI Processing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3017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47472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5760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Alerts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48056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47472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2064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Cloud Storage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94360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3474720"/>
            <a:ext cx="457200" cy="4572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58368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Dashboard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2592" y="97523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8246" y="982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Frame Extraction (OpenCV)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34874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150876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1106" y="1515029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3565" y="1524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Resize, Normalize, Upload to Azure Blob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91249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201168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204965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5945" y="20345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Detection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YOLOv8 Object Detection + Anomaly Detection (Ensemble)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42316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" y="251460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" y="2583180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Alert Processing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3192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Confidence Filtering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2133" y="292091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1520" y="3063240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5448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Notification Layer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3192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Email/SMS Alerts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3460526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35945" y="363547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" y="36432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5544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Visualization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93192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Power BI Dashboard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2546" y="400898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31520" y="4167894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1520" y="416789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554480" y="4069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Storage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93192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Azure Blob + Cosmos DB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1" y="1028700"/>
            <a:ext cx="3931920" cy="210312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Programming &amp; Libraries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5087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1508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Python 3.9+ (Core language)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OpenCV (Video processing)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05740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TensorFlow, Keras (Deep Learning)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2331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Scikit-learn (Machine Learning)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260604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2606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Pandas, NumPy (Data manipulation)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28803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Matplotlib, Seaborn (Visualization)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1005840"/>
            <a:ext cx="3931920" cy="2103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5730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92040" y="2185711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</a:rPr>
              <a:t>Object Detection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937760" y="25374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YOLOv8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937760" y="28117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(Ultralytics)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Leveraging industry-standard tools and frameworks for production-grade AI development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86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Deployment Stack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5303520" cy="18288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143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Microsoft Azure Services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0080" y="150876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22960" y="150876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Blob Storage (Video/frame storage)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40080" y="175564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22960" y="175564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Functions (Serverless processing)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200253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22960" y="200253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Cosmos DB (Alert logs, metadata)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0080" y="2249424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22960" y="224942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Computer Vision API (Enhanced analysis)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0080" y="2496312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2496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Application Insights (Monitoring)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" y="3017520"/>
            <a:ext cx="256032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DevOps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35204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" y="3520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GitHub Actions (CI/CD)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40080" y="376732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22960" y="37673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Docker (Containerization)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200400" y="3017520"/>
            <a:ext cx="274320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15468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74904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Business Intelligence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3383280" y="35204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566160" y="35204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Power BI (Dashboard)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3383280" y="376732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3566160" y="37673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DAX (Custom metrics)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126480" y="1005840"/>
            <a:ext cx="2560320" cy="3108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1645920"/>
            <a:ext cx="1097280" cy="10972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30936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Azure Cloud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630936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Scalable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Secure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Reliable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2336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for Training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UCF-Crime Dataset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1508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128 hours of surveillance footage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1,900 videos with 13 anomaly types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Anomaly detection training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" y="2240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xView Satellite Dataset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05840" y="2651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 million+ annotated objects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5840" y="2862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0.3m resolution satellite imagery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" y="3072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05840" y="3072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Object detection training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383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57200" y="3383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580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DOTA (Aerial Images)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05840" y="3794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280,000 annotated objects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2960" y="4005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05840" y="4005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15 object categories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05840" y="4215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Vehicle/infrastructure detection</a:t>
            </a:r>
            <a:endParaRPr lang="en-US" sz="1100" dirty="0"/>
          </a:p>
        </p:txBody>
      </p:sp>
    </p:spTree>
  </p:cSld>
  <p:clrMapOvr>
    <a:masterClrMapping/>
  </p:clrMapOvr>
  <p:transition spd="slow"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1-4)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1-2: Foundation &amp; Dataset Preparation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Download UCF-Crime and xView datasets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Perform EDA on surveillance videos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Setup Python environment and Azure account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Document findings in Jupyter notebooks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457200" y="278892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3-4: Object Detection Development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YOLOv8 model on border surveillance data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Fine-tune with custom annotations (Roboflow)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Achieve &gt;90% detection accuracy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Evaluate model performance (precision, recall)</a:t>
            </a:r>
            <a:endParaRPr lang="en-US" sz="1200" dirty="0"/>
          </a:p>
        </p:txBody>
      </p:sp>
    </p:spTree>
  </p:cSld>
  <p:clrMapOvr>
    <a:masterClrMapping/>
  </p:clrMapOvr>
  <p:transition spd="slow">
    <p:wheel spokes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5-8)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1158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5-6: Anomaly Detection System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Extract features (optical flow, spatial patterns)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ensemble models (Isolation Forest + Random Forest)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Implement alert prioritization logic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Test on validation dataset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501445" y="2793492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7-8: Azure Cloud Integration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 models to Azure Functions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Setup Blob Storage for video/frame storage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Configure Cosmos DB for alert logs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CI/CD pipeline with GitHub Actions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9-12)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07008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9-10: Dashboard &amp; Visualization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Power BI dashboard (real-time alerts, heatmaps)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Create Streamlit web app (alternative)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Implement email/SMS notification system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Test end-to-end alert flow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457200" y="2784348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11-12: Testing &amp; Documentation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System testing (various scenarios, stress test)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Complete GitHub repository (clean code, README)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Write project report (15-20 pages)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Prepare demo video and presentation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Success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9659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Deliverables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5087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Trained YOLOv8 model (object detection)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09928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7556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Ensemble anomaly detection model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56816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0025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Azure-deployed cloud system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03704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2494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Power BI real-time dashboard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50592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24963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Complete GitHub repository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97480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27432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Project report (15-20 pages)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4729808" y="1019556"/>
            <a:ext cx="3931920" cy="1965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0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Success Metrics</a:t>
            </a:r>
            <a:endParaRPr lang="en-US" sz="1800" dirty="0"/>
          </a:p>
        </p:txBody>
      </p:sp>
      <p:sp>
        <p:nvSpPr>
          <p:cNvPr id="19" name="Text 11"/>
          <p:cNvSpPr/>
          <p:nvPr/>
        </p:nvSpPr>
        <p:spPr>
          <a:xfrm>
            <a:off x="50292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Detection Accuracy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120580" y="1609344"/>
            <a:ext cx="25087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&gt;90% (Industry standard for surveillance)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50292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False Positive Rate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5884606" y="2049288"/>
            <a:ext cx="26193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&lt;20% (Significantly better than 30-40% manual rate)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Processing Speed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6101408" y="2338578"/>
            <a:ext cx="1808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&gt;20 FPS (Real-time capability)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5029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Alert Response Time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276176" y="2697480"/>
            <a:ext cx="1712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&lt;1 sec (Instant notification)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Production-Ready AI System for National Security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F363F-AD73-33A8-6A87-7BDE5810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>
            <a:extLst>
              <a:ext uri="{FF2B5EF4-FFF2-40B4-BE49-F238E27FC236}">
                <a16:creationId xmlns:a16="http://schemas.microsoft.com/office/drawing/2014/main" id="{075C83AB-C115-98F7-0411-243A48B246C4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F9A2337F-AAD2-F00B-BF61-7D065348C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365760"/>
            <a:ext cx="457200" cy="457200"/>
          </a:xfrm>
          <a:prstGeom prst="rect">
            <a:avLst/>
          </a:prstGeom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B7A11568-D560-44D3-A0E7-2C7F080B608D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Overview (Week 1-7)</a:t>
            </a:r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93D44A75-684B-EABF-55F6-3BB2DE91BD96}"/>
              </a:ext>
            </a:extLst>
          </p:cNvPr>
          <p:cNvSpPr/>
          <p:nvPr/>
        </p:nvSpPr>
        <p:spPr>
          <a:xfrm>
            <a:off x="457200" y="1181100"/>
            <a:ext cx="8229600" cy="1479042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3C55D45C-28D8-FF4E-C2EE-8BB0440DA0F4}"/>
              </a:ext>
            </a:extLst>
          </p:cNvPr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6B35"/>
                </a:solidFill>
              </a:rPr>
              <a:t>Current Status:</a:t>
            </a: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D6F4065-BE2E-F1D1-2E07-8ED05200D621}"/>
              </a:ext>
            </a:extLst>
          </p:cNvPr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Week 7 of 12 - On Track</a:t>
            </a:r>
            <a:endParaRPr lang="en-US" sz="1200" b="1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A924B378-81B2-BFE9-FBD5-8F220CA2FC97}"/>
              </a:ext>
            </a:extLst>
          </p:cNvPr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Deep Learning foundation completed (CNN, ANN, Transfer Learning)</a:t>
            </a:r>
          </a:p>
        </p:txBody>
      </p:sp>
      <p:pic>
        <p:nvPicPr>
          <p:cNvPr id="45" name="Image 3" descr="preencoded.png">
            <a:extLst>
              <a:ext uri="{FF2B5EF4-FFF2-40B4-BE49-F238E27FC236}">
                <a16:creationId xmlns:a16="http://schemas.microsoft.com/office/drawing/2014/main" id="{9F6BC5AF-7BC7-AADA-404C-51BCA9BD5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46" name="Text 5">
            <a:extLst>
              <a:ext uri="{FF2B5EF4-FFF2-40B4-BE49-F238E27FC236}">
                <a16:creationId xmlns:a16="http://schemas.microsoft.com/office/drawing/2014/main" id="{E6B9E24C-D976-11FA-A59F-56BA7B45F9C9}"/>
              </a:ext>
            </a:extLst>
          </p:cNvPr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YOLOv8 installed and tested on sample surveillance footage</a:t>
            </a:r>
            <a:endParaRPr lang="en-US" sz="1200" dirty="0"/>
          </a:p>
        </p:txBody>
      </p:sp>
      <p:pic>
        <p:nvPicPr>
          <p:cNvPr id="47" name="Image 4" descr="preencoded.png">
            <a:extLst>
              <a:ext uri="{FF2B5EF4-FFF2-40B4-BE49-F238E27FC236}">
                <a16:creationId xmlns:a16="http://schemas.microsoft.com/office/drawing/2014/main" id="{6E5A0072-A9C1-131D-2408-CDC104396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48" name="Text 6">
            <a:extLst>
              <a:ext uri="{FF2B5EF4-FFF2-40B4-BE49-F238E27FC236}">
                <a16:creationId xmlns:a16="http://schemas.microsoft.com/office/drawing/2014/main" id="{DC51A05D-AF69-43F9-AC20-5E0932F3CCED}"/>
              </a:ext>
            </a:extLst>
          </p:cNvPr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Dataset prepared: 850 frames extracted from UCF-Crime videos</a:t>
            </a:r>
            <a:endParaRPr lang="en-US" sz="1200" dirty="0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C6C737E4-BC13-0057-94ED-CB8FE1535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A273E4C3-8DEB-B651-4323-95C4BDEAE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51" name="Shape 1">
            <a:extLst>
              <a:ext uri="{FF2B5EF4-FFF2-40B4-BE49-F238E27FC236}">
                <a16:creationId xmlns:a16="http://schemas.microsoft.com/office/drawing/2014/main" id="{8ADD8F1D-BA08-994E-504C-05EC07E167D8}"/>
              </a:ext>
            </a:extLst>
          </p:cNvPr>
          <p:cNvSpPr/>
          <p:nvPr/>
        </p:nvSpPr>
        <p:spPr>
          <a:xfrm>
            <a:off x="457200" y="2933700"/>
            <a:ext cx="8229600" cy="184404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2">
            <a:extLst>
              <a:ext uri="{FF2B5EF4-FFF2-40B4-BE49-F238E27FC236}">
                <a16:creationId xmlns:a16="http://schemas.microsoft.com/office/drawing/2014/main" id="{CB8077B6-1AE9-8D8D-584D-2084D82CCDAD}"/>
              </a:ext>
            </a:extLst>
          </p:cNvPr>
          <p:cNvSpPr/>
          <p:nvPr/>
        </p:nvSpPr>
        <p:spPr>
          <a:xfrm>
            <a:off x="640080" y="3002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Completed Phases:</a:t>
            </a: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5E4FE565-6C11-D4A6-6014-79E94805040E}"/>
              </a:ext>
            </a:extLst>
          </p:cNvPr>
          <p:cNvSpPr/>
          <p:nvPr/>
        </p:nvSpPr>
        <p:spPr>
          <a:xfrm>
            <a:off x="1051560" y="343738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1: Foundation (Week 1-2) - Data Analytics, EDA, Power BI modules</a:t>
            </a:r>
            <a:endParaRPr lang="en-US" sz="12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BA894298-8A0A-FD75-BA04-5C75E44B77C5}"/>
              </a:ext>
            </a:extLst>
          </p:cNvPr>
          <p:cNvSpPr/>
          <p:nvPr/>
        </p:nvSpPr>
        <p:spPr>
          <a:xfrm>
            <a:off x="1051560" y="369341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2: Machine Learning (Week 3-5) - Supervised, Unsupervised, Reinforcement Learning </a:t>
            </a: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9394A255-A767-B654-1F64-75BE156F942C}"/>
              </a:ext>
            </a:extLst>
          </p:cNvPr>
          <p:cNvSpPr/>
          <p:nvPr/>
        </p:nvSpPr>
        <p:spPr>
          <a:xfrm>
            <a:off x="1051560" y="394944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3: Deep Learning (Week 6-7) - Neural Networks, CNN, TensorFlow/</a:t>
            </a:r>
            <a:r>
              <a:rPr lang="en-US" sz="1200" dirty="0" err="1">
                <a:solidFill>
                  <a:srgbClr val="CADCFC"/>
                </a:solidFill>
              </a:rPr>
              <a:t>Keras</a:t>
            </a:r>
            <a:endParaRPr lang="en-US" sz="1200" dirty="0"/>
          </a:p>
        </p:txBody>
      </p:sp>
      <p:pic>
        <p:nvPicPr>
          <p:cNvPr id="56" name="Image 4" descr="preencoded.png">
            <a:extLst>
              <a:ext uri="{FF2B5EF4-FFF2-40B4-BE49-F238E27FC236}">
                <a16:creationId xmlns:a16="http://schemas.microsoft.com/office/drawing/2014/main" id="{0A8C5C79-A68F-D0B9-F661-C2D37BD00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59758"/>
            <a:ext cx="228600" cy="228600"/>
          </a:xfrm>
          <a:prstGeom prst="rect">
            <a:avLst/>
          </a:prstGeom>
        </p:spPr>
      </p:pic>
      <p:sp>
        <p:nvSpPr>
          <p:cNvPr id="57" name="Text 6">
            <a:extLst>
              <a:ext uri="{FF2B5EF4-FFF2-40B4-BE49-F238E27FC236}">
                <a16:creationId xmlns:a16="http://schemas.microsoft.com/office/drawing/2014/main" id="{B85C9AF2-B2F1-E1B8-C90F-669D0839E2B3}"/>
              </a:ext>
            </a:extLst>
          </p:cNvPr>
          <p:cNvSpPr/>
          <p:nvPr/>
        </p:nvSpPr>
        <p:spPr>
          <a:xfrm>
            <a:off x="1051560" y="42054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Environment Setup - Python, TensorFlow, OpenCV, YOLOv8, Azure account</a:t>
            </a:r>
            <a:endParaRPr lang="en-US" sz="1200" dirty="0"/>
          </a:p>
        </p:txBody>
      </p:sp>
      <p:pic>
        <p:nvPicPr>
          <p:cNvPr id="58" name="Image 1" descr="preencoded.png">
            <a:extLst>
              <a:ext uri="{FF2B5EF4-FFF2-40B4-BE49-F238E27FC236}">
                <a16:creationId xmlns:a16="http://schemas.microsoft.com/office/drawing/2014/main" id="{33EC8842-2770-C33E-A03C-8EDE4D6BC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91662"/>
            <a:ext cx="228600" cy="228600"/>
          </a:xfrm>
          <a:prstGeom prst="rect">
            <a:avLst/>
          </a:prstGeom>
        </p:spPr>
      </p:pic>
      <p:pic>
        <p:nvPicPr>
          <p:cNvPr id="59" name="Image 2" descr="preencoded.png">
            <a:extLst>
              <a:ext uri="{FF2B5EF4-FFF2-40B4-BE49-F238E27FC236}">
                <a16:creationId xmlns:a16="http://schemas.microsoft.com/office/drawing/2014/main" id="{FA52E49C-0FF9-D8C5-3E09-1582BD965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47694"/>
            <a:ext cx="228600" cy="228600"/>
          </a:xfrm>
          <a:prstGeom prst="rect">
            <a:avLst/>
          </a:prstGeom>
        </p:spPr>
      </p:pic>
      <p:pic>
        <p:nvPicPr>
          <p:cNvPr id="60" name="Image 3" descr="preencoded.png">
            <a:extLst>
              <a:ext uri="{FF2B5EF4-FFF2-40B4-BE49-F238E27FC236}">
                <a16:creationId xmlns:a16="http://schemas.microsoft.com/office/drawing/2014/main" id="{1EAF5C1B-BA70-809A-68C3-379F6A26D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" y="3903726"/>
            <a:ext cx="228600" cy="228600"/>
          </a:xfrm>
          <a:prstGeom prst="rect">
            <a:avLst/>
          </a:prstGeom>
        </p:spPr>
      </p:pic>
      <p:pic>
        <p:nvPicPr>
          <p:cNvPr id="61" name="Image 4" descr="preencoded.png">
            <a:extLst>
              <a:ext uri="{FF2B5EF4-FFF2-40B4-BE49-F238E27FC236}">
                <a16:creationId xmlns:a16="http://schemas.microsoft.com/office/drawing/2014/main" id="{04366092-0E70-8444-031E-BE911DDFC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43222"/>
            <a:ext cx="228600" cy="228600"/>
          </a:xfrm>
          <a:prstGeom prst="rect">
            <a:avLst/>
          </a:prstGeom>
        </p:spPr>
      </p:pic>
      <p:sp>
        <p:nvSpPr>
          <p:cNvPr id="62" name="Text 6">
            <a:extLst>
              <a:ext uri="{FF2B5EF4-FFF2-40B4-BE49-F238E27FC236}">
                <a16:creationId xmlns:a16="http://schemas.microsoft.com/office/drawing/2014/main" id="{E5E8D949-D87D-61B6-4904-B229261EA90F}"/>
              </a:ext>
            </a:extLst>
          </p:cNvPr>
          <p:cNvSpPr/>
          <p:nvPr/>
        </p:nvSpPr>
        <p:spPr>
          <a:xfrm>
            <a:off x="1051560" y="44721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Dataset Collection - 850 surveillance frames organized in train/</a:t>
            </a:r>
            <a:r>
              <a:rPr lang="en-US" sz="1200" dirty="0" err="1">
                <a:solidFill>
                  <a:srgbClr val="CADCFC"/>
                </a:solidFill>
              </a:rPr>
              <a:t>val</a:t>
            </a:r>
            <a:r>
              <a:rPr lang="en-US" sz="1200" dirty="0">
                <a:solidFill>
                  <a:srgbClr val="CADCFC"/>
                </a:solidFill>
              </a:rPr>
              <a:t> splits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2214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80FF5-1C0E-90E2-17F7-8C29E448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>
            <a:extLst>
              <a:ext uri="{FF2B5EF4-FFF2-40B4-BE49-F238E27FC236}">
                <a16:creationId xmlns:a16="http://schemas.microsoft.com/office/drawing/2014/main" id="{41BA4956-03DE-FEB5-EFBB-2B9BC5FB11D7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FCEF9D98-BF4A-853B-D48F-1B12794E0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365760"/>
            <a:ext cx="457200" cy="457200"/>
          </a:xfrm>
          <a:prstGeom prst="rect">
            <a:avLst/>
          </a:prstGeom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030E7A9E-833D-01A2-0FF9-51CBC70ED9C7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Overview (Continued)</a:t>
            </a:r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2F4B84A3-5176-9211-ECC5-872481EBBDF0}"/>
              </a:ext>
            </a:extLst>
          </p:cNvPr>
          <p:cNvSpPr/>
          <p:nvPr/>
        </p:nvSpPr>
        <p:spPr>
          <a:xfrm>
            <a:off x="457200" y="1181100"/>
            <a:ext cx="8229600" cy="1479042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1B01FC32-CE53-B24A-336A-C5C5D42F7B97}"/>
              </a:ext>
            </a:extLst>
          </p:cNvPr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6B35"/>
                </a:solidFill>
              </a:rPr>
              <a:t>Ongoing Tasks (Week 8):</a:t>
            </a: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14869A64-F93D-6CE6-D3F6-0F9AC06F0CC6}"/>
              </a:ext>
            </a:extLst>
          </p:cNvPr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b="1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60EA056F-DC47-B89A-5E7B-D31FD53C073B}"/>
              </a:ext>
            </a:extLst>
          </p:cNvPr>
          <p:cNvSpPr/>
          <p:nvPr/>
        </p:nvSpPr>
        <p:spPr>
          <a:xfrm>
            <a:off x="624840" y="192862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Dataset annotation with bounding boxes (680 training + 170 validation frames)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YOLOv8 fine-tuning on custom surveillance dataset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Azure cloud setup (Storage Account, Blob containers)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Implementation of anomaly detection ensemble model</a:t>
            </a:r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DBBD315F-57A8-4FF4-2382-3FAA7D154F11}"/>
              </a:ext>
            </a:extLst>
          </p:cNvPr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2" name="Text 2">
            <a:extLst>
              <a:ext uri="{FF2B5EF4-FFF2-40B4-BE49-F238E27FC236}">
                <a16:creationId xmlns:a16="http://schemas.microsoft.com/office/drawing/2014/main" id="{DA46EDFA-9DC5-4FDB-B288-1340594D5CA5}"/>
              </a:ext>
            </a:extLst>
          </p:cNvPr>
          <p:cNvSpPr/>
          <p:nvPr/>
        </p:nvSpPr>
        <p:spPr>
          <a:xfrm>
            <a:off x="640080" y="3002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b="1" dirty="0">
              <a:solidFill>
                <a:srgbClr val="00D9FF"/>
              </a:solidFill>
            </a:endParaRP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221D5DB7-45F8-B1F6-AB9C-CC67D4EE874E}"/>
              </a:ext>
            </a:extLst>
          </p:cNvPr>
          <p:cNvSpPr/>
          <p:nvPr/>
        </p:nvSpPr>
        <p:spPr>
          <a:xfrm>
            <a:off x="1051560" y="343738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33ACFD31-E823-BF1A-3FFE-4A31E081ED3B}"/>
              </a:ext>
            </a:extLst>
          </p:cNvPr>
          <p:cNvSpPr/>
          <p:nvPr/>
        </p:nvSpPr>
        <p:spPr>
          <a:xfrm>
            <a:off x="1051560" y="369341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CADCFC"/>
              </a:solidFill>
            </a:endParaRP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4C83F32B-BC77-58A7-7B06-5164A2E97A60}"/>
              </a:ext>
            </a:extLst>
          </p:cNvPr>
          <p:cNvSpPr/>
          <p:nvPr/>
        </p:nvSpPr>
        <p:spPr>
          <a:xfrm>
            <a:off x="1051560" y="394944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9A3674AD-5466-2B3E-93A4-FD30571DD570}"/>
              </a:ext>
            </a:extLst>
          </p:cNvPr>
          <p:cNvSpPr/>
          <p:nvPr/>
        </p:nvSpPr>
        <p:spPr>
          <a:xfrm>
            <a:off x="1051560" y="44721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3172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D9FF"/>
                </a:solidFill>
              </a:rPr>
              <a:t>This project demonstrates: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087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55448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Practical application of AI/ML in national security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187452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Integration of Microsoft Elevate learnings (all 12 weeks)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4884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37360" y="219456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End-to-end system development (data → deployment)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46888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37360" y="251460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Cloud computing skills using Azure platform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88920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737360" y="283464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Real-world problem-solving approach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457200" y="304038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</a:rPr>
              <a:t>Impact:</a:t>
            </a:r>
            <a:endParaRPr lang="en-US" sz="18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383280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965960" y="34290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Enhances border security through automation</a:t>
            </a:r>
            <a:endParaRPr lang="en-US" sz="13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675888"/>
            <a:ext cx="228600" cy="2286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965960" y="3721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Reduces manual monitoring burden</a:t>
            </a:r>
            <a:endParaRPr lang="en-US" sz="13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968496"/>
            <a:ext cx="228600" cy="2286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965960" y="40142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Improves threat detection speed and accuracy</a:t>
            </a:r>
            <a:endParaRPr lang="en-US" sz="13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4261104"/>
            <a:ext cx="228600" cy="2286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965960" y="430682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Scalable solution for large-scale surveillance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1928D-0C17-DD18-5A83-026ACF55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AE9711-F76D-6713-D378-FDDB880EC04D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- Code Snippets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933059-D492-EAB0-423F-3B1AFACCBB32}"/>
              </a:ext>
            </a:extLst>
          </p:cNvPr>
          <p:cNvSpPr/>
          <p:nvPr/>
        </p:nvSpPr>
        <p:spPr>
          <a:xfrm>
            <a:off x="227863" y="1002410"/>
            <a:ext cx="2284526" cy="3865626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FA07E62-65C0-2771-62FC-BA2A9F1C0631}"/>
              </a:ext>
            </a:extLst>
          </p:cNvPr>
          <p:cNvSpPr/>
          <p:nvPr/>
        </p:nvSpPr>
        <p:spPr>
          <a:xfrm>
            <a:off x="363669" y="113957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D9FF"/>
                </a:solidFill>
              </a:rPr>
              <a:t>YOLOv8 Object Detection: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B3EC3D90-8F85-A584-3550-AFF84223A777}"/>
              </a:ext>
            </a:extLst>
          </p:cNvPr>
          <p:cNvSpPr/>
          <p:nvPr/>
        </p:nvSpPr>
        <p:spPr>
          <a:xfrm>
            <a:off x="410742" y="2966430"/>
            <a:ext cx="1736007" cy="314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from </a:t>
            </a:r>
            <a:r>
              <a:rPr lang="en-US" sz="1000" dirty="0" err="1">
                <a:solidFill>
                  <a:srgbClr val="CADCFC"/>
                </a:solidFill>
              </a:rPr>
              <a:t>ultralytics</a:t>
            </a:r>
            <a:r>
              <a:rPr lang="en-US" sz="1000" dirty="0">
                <a:solidFill>
                  <a:srgbClr val="CADCFC"/>
                </a:solidFill>
              </a:rPr>
              <a:t> import YOLO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Load YOLOv8 model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model = YOLO('yolov8n.pt')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Run inference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results = </a:t>
            </a:r>
            <a:r>
              <a:rPr lang="en-US" sz="1000" dirty="0" err="1">
                <a:solidFill>
                  <a:srgbClr val="CADCFC"/>
                </a:solidFill>
              </a:rPr>
              <a:t>model.predict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source='surveillance_frame.jpg',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conf=0.5,  # 50% confidence threshold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save=True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Process detections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for r in results: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boxes = </a:t>
            </a:r>
            <a:r>
              <a:rPr lang="en-US" sz="1000" dirty="0" err="1">
                <a:solidFill>
                  <a:srgbClr val="CADCFC"/>
                </a:solidFill>
              </a:rPr>
              <a:t>r.boxes</a:t>
            </a:r>
            <a:endParaRPr lang="en-US" sz="1000" dirty="0">
              <a:solidFill>
                <a:srgbClr val="CADCFC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for box in boxes: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</a:t>
            </a:r>
            <a:r>
              <a:rPr lang="en-US" sz="1000" dirty="0" err="1">
                <a:solidFill>
                  <a:srgbClr val="CADCFC"/>
                </a:solidFill>
              </a:rPr>
              <a:t>cls</a:t>
            </a:r>
            <a:r>
              <a:rPr lang="en-US" sz="1000" dirty="0">
                <a:solidFill>
                  <a:srgbClr val="CADCFC"/>
                </a:solidFill>
              </a:rPr>
              <a:t> = int(</a:t>
            </a:r>
            <a:r>
              <a:rPr lang="en-US" sz="1000" dirty="0" err="1">
                <a:solidFill>
                  <a:srgbClr val="CADCFC"/>
                </a:solidFill>
              </a:rPr>
              <a:t>box.cls</a:t>
            </a:r>
            <a:r>
              <a:rPr lang="en-US" sz="1000" dirty="0">
                <a:solidFill>
                  <a:srgbClr val="CADCFC"/>
                </a:solidFill>
              </a:rPr>
              <a:t>[0])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conf = float(</a:t>
            </a:r>
            <a:r>
              <a:rPr lang="en-US" sz="1000" dirty="0" err="1">
                <a:solidFill>
                  <a:srgbClr val="CADCFC"/>
                </a:solidFill>
              </a:rPr>
              <a:t>box.conf</a:t>
            </a:r>
            <a:r>
              <a:rPr lang="en-US" sz="1000" dirty="0">
                <a:solidFill>
                  <a:srgbClr val="CADCFC"/>
                </a:solidFill>
              </a:rPr>
              <a:t>[0])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print(</a:t>
            </a:r>
            <a:r>
              <a:rPr lang="en-US" sz="1000" dirty="0" err="1">
                <a:solidFill>
                  <a:srgbClr val="CADCFC"/>
                </a:solidFill>
              </a:rPr>
              <a:t>f"Detected</a:t>
            </a:r>
            <a:r>
              <a:rPr lang="en-US" sz="1000" dirty="0">
                <a:solidFill>
                  <a:srgbClr val="CADCFC"/>
                </a:solidFill>
              </a:rPr>
              <a:t>: {</a:t>
            </a:r>
            <a:r>
              <a:rPr lang="en-US" sz="1000" dirty="0" err="1">
                <a:solidFill>
                  <a:srgbClr val="CADCFC"/>
                </a:solidFill>
              </a:rPr>
              <a:t>model.names</a:t>
            </a:r>
            <a:r>
              <a:rPr lang="en-US" sz="1000" dirty="0">
                <a:solidFill>
                  <a:srgbClr val="CADCFC"/>
                </a:solidFill>
              </a:rPr>
              <a:t>[</a:t>
            </a:r>
            <a:r>
              <a:rPr lang="en-US" sz="1000" dirty="0" err="1">
                <a:solidFill>
                  <a:srgbClr val="CADCFC"/>
                </a:solidFill>
              </a:rPr>
              <a:t>cls</a:t>
            </a:r>
            <a:r>
              <a:rPr lang="en-US" sz="1000" dirty="0">
                <a:solidFill>
                  <a:srgbClr val="CADCFC"/>
                </a:solidFill>
              </a:rPr>
              <a:t>]}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      Confidence: {conf:.2f}")</a:t>
            </a: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009B2477-35ED-2326-8B1F-107E4F250DC0}"/>
              </a:ext>
            </a:extLst>
          </p:cNvPr>
          <p:cNvSpPr/>
          <p:nvPr/>
        </p:nvSpPr>
        <p:spPr>
          <a:xfrm>
            <a:off x="1005840" y="27432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F9FE3E1D-6FF8-C2BF-2484-AE3170ECA4BE}"/>
              </a:ext>
            </a:extLst>
          </p:cNvPr>
          <p:cNvSpPr/>
          <p:nvPr/>
        </p:nvSpPr>
        <p:spPr>
          <a:xfrm>
            <a:off x="2858727" y="1002410"/>
            <a:ext cx="2690230" cy="406679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30D2CA1-06C5-0B5A-1683-805206A7CC3B}"/>
              </a:ext>
            </a:extLst>
          </p:cNvPr>
          <p:cNvSpPr/>
          <p:nvPr/>
        </p:nvSpPr>
        <p:spPr>
          <a:xfrm>
            <a:off x="3046525" y="1096464"/>
            <a:ext cx="3050950" cy="303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Anomaly Detection Ensemble:</a:t>
            </a: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B2EEF42-27B3-F6EE-E9C3-16AFEA6BE111}"/>
              </a:ext>
            </a:extLst>
          </p:cNvPr>
          <p:cNvSpPr/>
          <p:nvPr/>
        </p:nvSpPr>
        <p:spPr>
          <a:xfrm>
            <a:off x="50292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6179D7E5-0D6B-F895-ADEB-D27ACF229D88}"/>
              </a:ext>
            </a:extLst>
          </p:cNvPr>
          <p:cNvSpPr/>
          <p:nvPr/>
        </p:nvSpPr>
        <p:spPr>
          <a:xfrm>
            <a:off x="6120580" y="1572993"/>
            <a:ext cx="25087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4F539724-82C7-ED61-D278-49131AA3B722}"/>
              </a:ext>
            </a:extLst>
          </p:cNvPr>
          <p:cNvSpPr/>
          <p:nvPr/>
        </p:nvSpPr>
        <p:spPr>
          <a:xfrm>
            <a:off x="50292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8B7B752B-2C21-CA81-5A26-C5524ECF11AB}"/>
              </a:ext>
            </a:extLst>
          </p:cNvPr>
          <p:cNvSpPr/>
          <p:nvPr/>
        </p:nvSpPr>
        <p:spPr>
          <a:xfrm>
            <a:off x="5884606" y="2049288"/>
            <a:ext cx="26193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306A3535-A4EC-4AFC-7412-C2E9AF11A019}"/>
              </a:ext>
            </a:extLst>
          </p:cNvPr>
          <p:cNvSpPr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328C21A1-E352-E23F-B5B4-E5C8AA25A9F4}"/>
              </a:ext>
            </a:extLst>
          </p:cNvPr>
          <p:cNvSpPr/>
          <p:nvPr/>
        </p:nvSpPr>
        <p:spPr>
          <a:xfrm>
            <a:off x="3066679" y="2943224"/>
            <a:ext cx="2341305" cy="579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from </a:t>
            </a:r>
            <a:r>
              <a:rPr lang="en-US" sz="1000" b="1" dirty="0" err="1">
                <a:solidFill>
                  <a:srgbClr val="00D9FF"/>
                </a:solidFill>
              </a:rPr>
              <a:t>sklearn.ensemble</a:t>
            </a:r>
            <a:r>
              <a:rPr lang="en-US" sz="1000" b="1" dirty="0">
                <a:solidFill>
                  <a:srgbClr val="00D9FF"/>
                </a:solidFill>
              </a:rPr>
              <a:t> import </a:t>
            </a:r>
            <a:r>
              <a:rPr lang="en-US" sz="1000" b="1" dirty="0" err="1">
                <a:solidFill>
                  <a:srgbClr val="00D9FF"/>
                </a:solidFill>
              </a:rPr>
              <a:t>IsolationForest</a:t>
            </a:r>
            <a:r>
              <a:rPr lang="en-US" sz="1000" b="1" dirty="0">
                <a:solidFill>
                  <a:srgbClr val="00D9FF"/>
                </a:solidFill>
              </a:rPr>
              <a:t>, </a:t>
            </a:r>
            <a:r>
              <a:rPr lang="en-US" sz="1000" b="1" dirty="0" err="1">
                <a:solidFill>
                  <a:srgbClr val="00D9FF"/>
                </a:solidFill>
              </a:rPr>
              <a:t>RandomForestClassifier</a:t>
            </a:r>
            <a:endParaRPr lang="en-US" sz="1000" b="1" dirty="0">
              <a:solidFill>
                <a:srgbClr val="00D9FF"/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import </a:t>
            </a:r>
            <a:r>
              <a:rPr lang="en-US" sz="1000" b="1" dirty="0" err="1">
                <a:solidFill>
                  <a:srgbClr val="00D9FF"/>
                </a:solidFill>
              </a:rPr>
              <a:t>numpy</a:t>
            </a:r>
            <a:r>
              <a:rPr lang="en-US" sz="1000" b="1" dirty="0">
                <a:solidFill>
                  <a:srgbClr val="00D9FF"/>
                </a:solidFill>
              </a:rPr>
              <a:t> as np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Isolation Forest for anomaly detection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iso_forest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IsolationForest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contamination=0.1,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random_state</a:t>
            </a:r>
            <a:r>
              <a:rPr lang="en-US" sz="1000" b="1" dirty="0">
                <a:solidFill>
                  <a:srgbClr val="00D9FF"/>
                </a:solidFill>
              </a:rPr>
              <a:t>=42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iso_predictions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iso_forest.fit_predict</a:t>
            </a:r>
            <a:r>
              <a:rPr lang="en-US" sz="1000" b="1" dirty="0">
                <a:solidFill>
                  <a:srgbClr val="00D9FF"/>
                </a:solidFill>
              </a:rPr>
              <a:t>(features)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Random Forest classifier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rf_classifier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RandomForestClassifier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n_estimators</a:t>
            </a:r>
            <a:r>
              <a:rPr lang="en-US" sz="1000" b="1" dirty="0">
                <a:solidFill>
                  <a:srgbClr val="00D9FF"/>
                </a:solidFill>
              </a:rPr>
              <a:t>=100,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random_state</a:t>
            </a:r>
            <a:r>
              <a:rPr lang="en-US" sz="1000" b="1" dirty="0">
                <a:solidFill>
                  <a:srgbClr val="00D9FF"/>
                </a:solidFill>
              </a:rPr>
              <a:t>=42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rf_classifier.fit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  <a:r>
              <a:rPr lang="en-US" sz="1000" b="1" dirty="0" err="1">
                <a:solidFill>
                  <a:srgbClr val="00D9FF"/>
                </a:solidFill>
              </a:rPr>
              <a:t>X_train</a:t>
            </a:r>
            <a:r>
              <a:rPr lang="en-US" sz="1000" b="1" dirty="0">
                <a:solidFill>
                  <a:srgbClr val="00D9FF"/>
                </a:solidFill>
              </a:rPr>
              <a:t>, </a:t>
            </a:r>
            <a:r>
              <a:rPr lang="en-US" sz="1000" b="1" dirty="0" err="1">
                <a:solidFill>
                  <a:srgbClr val="00D9FF"/>
                </a:solidFill>
              </a:rPr>
              <a:t>y_train</a:t>
            </a: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rf_classifier.predict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  <a:r>
              <a:rPr lang="en-US" sz="1000" b="1" dirty="0" err="1">
                <a:solidFill>
                  <a:srgbClr val="00D9FF"/>
                </a:solidFill>
              </a:rPr>
              <a:t>X_test</a:t>
            </a: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Ensemble voting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final_predictions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np.where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(</a:t>
            </a:r>
            <a:r>
              <a:rPr lang="en-US" sz="1000" b="1" dirty="0" err="1">
                <a:solidFill>
                  <a:srgbClr val="00D9FF"/>
                </a:solidFill>
              </a:rPr>
              <a:t>iso_predictions</a:t>
            </a:r>
            <a:r>
              <a:rPr lang="en-US" sz="1000" b="1" dirty="0">
                <a:solidFill>
                  <a:srgbClr val="00D9FF"/>
                </a:solidFill>
              </a:rPr>
              <a:t> == -1) |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(</a:t>
            </a:r>
            <a:r>
              <a:rPr lang="en-US" sz="1000" b="1" dirty="0" err="1">
                <a:solidFill>
                  <a:srgbClr val="00D9FF"/>
                </a:solidFill>
              </a:rPr>
              <a:t>rf_predictions</a:t>
            </a:r>
            <a:r>
              <a:rPr lang="en-US" sz="1000" b="1" dirty="0">
                <a:solidFill>
                  <a:srgbClr val="00D9FF"/>
                </a:solidFill>
              </a:rPr>
              <a:t> == 1),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1, 0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DEB3535D-F703-3E0D-A21D-A387E0E7FA3D}"/>
              </a:ext>
            </a:extLst>
          </p:cNvPr>
          <p:cNvSpPr/>
          <p:nvPr/>
        </p:nvSpPr>
        <p:spPr>
          <a:xfrm>
            <a:off x="5029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39060A2D-33A1-1C2F-A0D1-64F1B9684FE0}"/>
              </a:ext>
            </a:extLst>
          </p:cNvPr>
          <p:cNvSpPr/>
          <p:nvPr/>
        </p:nvSpPr>
        <p:spPr>
          <a:xfrm>
            <a:off x="6276176" y="2697480"/>
            <a:ext cx="1712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1397AF25-7CD3-6988-6D99-90390A1D3548}"/>
              </a:ext>
            </a:extLst>
          </p:cNvPr>
          <p:cNvSpPr/>
          <p:nvPr/>
        </p:nvSpPr>
        <p:spPr>
          <a:xfrm>
            <a:off x="227862" y="4685157"/>
            <a:ext cx="2309598" cy="182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43ED6A3A-5795-759D-1350-F51735179B96}"/>
              </a:ext>
            </a:extLst>
          </p:cNvPr>
          <p:cNvSpPr/>
          <p:nvPr/>
        </p:nvSpPr>
        <p:spPr>
          <a:xfrm>
            <a:off x="6874347" y="1149858"/>
            <a:ext cx="2243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b="1" dirty="0">
              <a:solidFill>
                <a:srgbClr val="00D9FF"/>
              </a:solidFill>
            </a:endParaRP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4D6BBFCE-8542-CAF8-5A85-F92F1B889C57}"/>
              </a:ext>
            </a:extLst>
          </p:cNvPr>
          <p:cNvSpPr/>
          <p:nvPr/>
        </p:nvSpPr>
        <p:spPr>
          <a:xfrm>
            <a:off x="6942190" y="2667313"/>
            <a:ext cx="2157880" cy="165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CADCFC"/>
              </a:solidFill>
            </a:endParaRPr>
          </a:p>
        </p:txBody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BC2321C6-DE28-8A5A-F85E-938130622B9C}"/>
              </a:ext>
            </a:extLst>
          </p:cNvPr>
          <p:cNvSpPr/>
          <p:nvPr/>
        </p:nvSpPr>
        <p:spPr>
          <a:xfrm>
            <a:off x="5811234" y="1026413"/>
            <a:ext cx="3006460" cy="3944493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43622316-2051-5BA9-15A0-A5E4CC254FBC}"/>
              </a:ext>
            </a:extLst>
          </p:cNvPr>
          <p:cNvSpPr/>
          <p:nvPr/>
        </p:nvSpPr>
        <p:spPr>
          <a:xfrm>
            <a:off x="5994113" y="113957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D9FF"/>
                </a:solidFill>
              </a:rPr>
              <a:t>Azure Cloud Integration:</a:t>
            </a:r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8F64629C-9829-0564-7A40-CF1413D502D1}"/>
              </a:ext>
            </a:extLst>
          </p:cNvPr>
          <p:cNvSpPr/>
          <p:nvPr/>
        </p:nvSpPr>
        <p:spPr>
          <a:xfrm>
            <a:off x="5994113" y="2998659"/>
            <a:ext cx="2739024" cy="314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from </a:t>
            </a:r>
            <a:r>
              <a:rPr lang="en-US" sz="1000" dirty="0" err="1">
                <a:solidFill>
                  <a:srgbClr val="CADCFC"/>
                </a:solidFill>
              </a:rPr>
              <a:t>azure.storage.blob</a:t>
            </a:r>
            <a:r>
              <a:rPr lang="en-US" sz="1000" dirty="0">
                <a:solidFill>
                  <a:srgbClr val="CADCFC"/>
                </a:solidFill>
              </a:rPr>
              <a:t> import BlobServiceClient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import </a:t>
            </a:r>
            <a:r>
              <a:rPr lang="en-US" sz="1000" dirty="0" err="1">
                <a:solidFill>
                  <a:srgbClr val="CADCFC"/>
                </a:solidFill>
              </a:rPr>
              <a:t>azure.functions</a:t>
            </a:r>
            <a:r>
              <a:rPr lang="en-US" sz="1000" dirty="0">
                <a:solidFill>
                  <a:srgbClr val="CADCFC"/>
                </a:solidFill>
              </a:rPr>
              <a:t> as </a:t>
            </a:r>
            <a:r>
              <a:rPr lang="en-US" sz="1000" dirty="0" err="1">
                <a:solidFill>
                  <a:srgbClr val="CADCFC"/>
                </a:solidFill>
              </a:rPr>
              <a:t>func</a:t>
            </a:r>
            <a:endParaRPr lang="en-US" sz="1000" dirty="0">
              <a:solidFill>
                <a:srgbClr val="CADCFC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Upload to Azure Blob Storage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blob_service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BlobServiceClient.from_connection_string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conn_str</a:t>
            </a:r>
            <a:r>
              <a:rPr lang="en-US" sz="1000" dirty="0">
                <a:solidFill>
                  <a:srgbClr val="CADCFC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container = </a:t>
            </a:r>
            <a:r>
              <a:rPr lang="en-US" sz="1000" dirty="0" err="1">
                <a:solidFill>
                  <a:srgbClr val="CADCFC"/>
                </a:solidFill>
              </a:rPr>
              <a:t>blob_service.get_container_client</a:t>
            </a:r>
            <a:r>
              <a:rPr lang="en-US" sz="1000" dirty="0">
                <a:solidFill>
                  <a:srgbClr val="CADCFC"/>
                </a:solidFill>
              </a:rPr>
              <a:t>("surveillance-videos")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blob_client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container.get_blob_client</a:t>
            </a:r>
            <a:r>
              <a:rPr lang="en-US" sz="1000" dirty="0">
                <a:solidFill>
                  <a:srgbClr val="CADCFC"/>
                </a:solidFill>
              </a:rPr>
              <a:t>("detected_threat.jpg")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blob_client.upload_blob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image_data</a:t>
            </a:r>
            <a:r>
              <a:rPr lang="en-US" sz="1000" dirty="0">
                <a:solidFill>
                  <a:srgbClr val="CADCFC"/>
                </a:solidFill>
              </a:rPr>
              <a:t>, overwrite=True)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Azure Function for alert processing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def main(req: </a:t>
            </a:r>
            <a:r>
              <a:rPr lang="en-US" sz="1000" dirty="0" err="1">
                <a:solidFill>
                  <a:srgbClr val="CADCFC"/>
                </a:solidFill>
              </a:rPr>
              <a:t>func.HttpRequest</a:t>
            </a:r>
            <a:r>
              <a:rPr lang="en-US" sz="1000" dirty="0">
                <a:solidFill>
                  <a:srgbClr val="CADCFC"/>
                </a:solidFill>
              </a:rPr>
              <a:t>) -&gt; </a:t>
            </a:r>
            <a:r>
              <a:rPr lang="en-US" sz="1000" dirty="0" err="1">
                <a:solidFill>
                  <a:srgbClr val="CADCFC"/>
                </a:solidFill>
              </a:rPr>
              <a:t>func.HttpResponse</a:t>
            </a:r>
            <a:r>
              <a:rPr lang="en-US" sz="1000" dirty="0">
                <a:solidFill>
                  <a:srgbClr val="CADCFC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req.get_json</a:t>
            </a:r>
            <a:r>
              <a:rPr lang="en-US" sz="1000" dirty="0">
                <a:solidFill>
                  <a:srgbClr val="CADCFC"/>
                </a:solidFill>
              </a:rPr>
              <a:t>()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if 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['confidence'] &gt; 0.8: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</a:t>
            </a:r>
            <a:r>
              <a:rPr lang="en-US" sz="1000" dirty="0" err="1">
                <a:solidFill>
                  <a:srgbClr val="CADCFC"/>
                </a:solidFill>
              </a:rPr>
              <a:t>send_alert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)  # Trigger email/SMS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return </a:t>
            </a:r>
            <a:r>
              <a:rPr lang="en-US" sz="1000" dirty="0" err="1">
                <a:solidFill>
                  <a:srgbClr val="CADCFC"/>
                </a:solidFill>
              </a:rPr>
              <a:t>func.HttpResponse</a:t>
            </a:r>
            <a:r>
              <a:rPr lang="en-US" sz="1000" dirty="0">
                <a:solidFill>
                  <a:srgbClr val="CADCFC"/>
                </a:solidFill>
              </a:rPr>
              <a:t>("Alert processed", </a:t>
            </a:r>
            <a:r>
              <a:rPr lang="en-US" sz="1000" dirty="0" err="1">
                <a:solidFill>
                  <a:srgbClr val="CADCFC"/>
                </a:solidFill>
              </a:rPr>
              <a:t>status_code</a:t>
            </a:r>
            <a:r>
              <a:rPr lang="en-US" sz="1000" dirty="0">
                <a:solidFill>
                  <a:srgbClr val="CADCFC"/>
                </a:solidFill>
              </a:rPr>
              <a:t>=200)</a:t>
            </a:r>
          </a:p>
        </p:txBody>
      </p:sp>
    </p:spTree>
    <p:extLst>
      <p:ext uri="{BB962C8B-B14F-4D97-AF65-F5344CB8AC3E}">
        <p14:creationId xmlns:p14="http://schemas.microsoft.com/office/powerpoint/2010/main" val="17570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Datasets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UCF-Crime: crcv.ucf.edu/projects/real-world/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1848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184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xView: xviewdataset.org/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6537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86537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DOTA: captain-whu.github.io/DOTA/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Technologies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YOLOv8: docs.ultralytics.com/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80720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8072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Microsoft Azure: azure.microsoft.com/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05409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0540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TensorFlow: tensorflow.org/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Research Papers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137160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Real-world Anomaly Detection 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Surveillance Videos (CVPR)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YOLOv8: Advanced Object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46888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Enhancing Border Security Through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Computer Vision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All references and resources available in project documentation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21A7B8-E320-89B3-AD3B-B6A8FEEF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925D5F3A-D75F-7B0E-F269-8440D34A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9580" y="402336"/>
            <a:ext cx="420624" cy="42062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E1F4091-2E84-B96D-F796-DDD70FB531C7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6B35"/>
                </a:solidFill>
              </a:rPr>
              <a:t>Results &amp; Outcomes (Week 1-7)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917ECF2-B761-409F-7E8B-C065CDCED37C}"/>
              </a:ext>
            </a:extLst>
          </p:cNvPr>
          <p:cNvSpPr/>
          <p:nvPr/>
        </p:nvSpPr>
        <p:spPr>
          <a:xfrm>
            <a:off x="457200" y="1225296"/>
            <a:ext cx="8229600" cy="1502664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ECFE6A3-9999-EC41-F8CC-BDC606761E81}"/>
              </a:ext>
            </a:extLst>
          </p:cNvPr>
          <p:cNvSpPr/>
          <p:nvPr/>
        </p:nvSpPr>
        <p:spPr>
          <a:xfrm>
            <a:off x="457200" y="1225296"/>
            <a:ext cx="91440" cy="1502664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AC95D2A-6031-3FAA-8258-B06C19657A72}"/>
              </a:ext>
            </a:extLst>
          </p:cNvPr>
          <p:cNvSpPr/>
          <p:nvPr/>
        </p:nvSpPr>
        <p:spPr>
          <a:xfrm>
            <a:off x="685800" y="13167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Training Achievements: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F5EE2B0-708F-0AA8-EFBC-C4CCE2E32C8E}"/>
              </a:ext>
            </a:extLst>
          </p:cNvPr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F2E7ECE-FCE6-3E9B-DC2D-90FE9864D0AC}"/>
              </a:ext>
            </a:extLst>
          </p:cNvPr>
          <p:cNvSpPr/>
          <p:nvPr/>
        </p:nvSpPr>
        <p:spPr>
          <a:xfrm>
            <a:off x="685800" y="2040636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Completed 7 weeks of Microsoft Elevate training modules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Mastered Data Analytics, Machine Learning, Deep Learning concepts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Built CNN from scratch - achieved 78% accuracy on CIFAR-10 dataset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Implemented transfer learning with VGG16 pre-trained model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Successfully tested YOLOv8 on surveillance footage (30+ FPS performance)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Prepared 850 annotated frames for custom model training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0A72563-A449-687C-6E58-FADF1A247CB1}"/>
              </a:ext>
            </a:extLst>
          </p:cNvPr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21957A2-7D91-5C5B-F8CE-7E31BFC60CE2}"/>
              </a:ext>
            </a:extLst>
          </p:cNvPr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E269A60-9509-6C18-CC8C-D845174455F0}"/>
              </a:ext>
            </a:extLst>
          </p:cNvPr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7FFC225-46CA-20D8-3072-C093B8FD243F}"/>
              </a:ext>
            </a:extLst>
          </p:cNvPr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87AC85A-B5EE-C983-7187-A1451B7AD287}"/>
              </a:ext>
            </a:extLst>
          </p:cNvPr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72F4F6C-0DB6-1863-64ED-2FFC8956FA43}"/>
              </a:ext>
            </a:extLst>
          </p:cNvPr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797D83E7-14F3-8D0F-11EE-A6E5A7002F66}"/>
              </a:ext>
            </a:extLst>
          </p:cNvPr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390F613B-0BCF-D991-1462-E71CA010029A}"/>
              </a:ext>
            </a:extLst>
          </p:cNvPr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E5F2152E-5D04-6720-9275-9E4092C09F0B}"/>
              </a:ext>
            </a:extLst>
          </p:cNvPr>
          <p:cNvSpPr/>
          <p:nvPr/>
        </p:nvSpPr>
        <p:spPr>
          <a:xfrm>
            <a:off x="457200" y="3235452"/>
            <a:ext cx="8229600" cy="1167384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E1C2ACA6-22AA-1E07-A1DF-E088BD8CBA28}"/>
              </a:ext>
            </a:extLst>
          </p:cNvPr>
          <p:cNvSpPr/>
          <p:nvPr/>
        </p:nvSpPr>
        <p:spPr>
          <a:xfrm>
            <a:off x="457200" y="3235452"/>
            <a:ext cx="91440" cy="1167384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CFD9D820-F39A-16A6-4C58-62519D17E4D6}"/>
              </a:ext>
            </a:extLst>
          </p:cNvPr>
          <p:cNvSpPr/>
          <p:nvPr/>
        </p:nvSpPr>
        <p:spPr>
          <a:xfrm>
            <a:off x="685800" y="33268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Pre-trained YOLOv8 Performance:</a:t>
            </a: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234B7DD2-E956-2A0E-C9F8-54A9D359E795}"/>
              </a:ext>
            </a:extLst>
          </p:cNvPr>
          <p:cNvSpPr/>
          <p:nvPr/>
        </p:nvSpPr>
        <p:spPr>
          <a:xfrm>
            <a:off x="685800" y="38907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YOLOv8n (nano): ~30 FPS, 640x640 input, 3.2M parameters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Detection Accuracy: Person (92%), Vehicle (88%), Backpack (85%)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Average Confidence Score: 0.76 for valid detections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False Positive Rate: ~15% on test surveillance footage</a:t>
            </a:r>
          </a:p>
        </p:txBody>
      </p:sp>
    </p:spTree>
    <p:extLst>
      <p:ext uri="{BB962C8B-B14F-4D97-AF65-F5344CB8AC3E}">
        <p14:creationId xmlns:p14="http://schemas.microsoft.com/office/powerpoint/2010/main" val="1160278623"/>
      </p:ext>
    </p:extLst>
  </p:cSld>
  <p:clrMapOvr>
    <a:masterClrMapping/>
  </p:clrMapOvr>
  <p:transition spd="slow"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A1EEC-B71C-7164-F3A8-35A0E4447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72C6DB66-DFED-E002-481D-F307DFB172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9580" y="402336"/>
            <a:ext cx="420624" cy="42062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3ED2969-163A-B746-F060-CBD3C586688C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chemeClr val="accent6"/>
                </a:solidFill>
              </a:rPr>
              <a:t>Expected Final Outcomes (Week 12):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615CD4C-1894-296C-1CFB-B8A0248DAEE3}"/>
              </a:ext>
            </a:extLst>
          </p:cNvPr>
          <p:cNvSpPr/>
          <p:nvPr/>
        </p:nvSpPr>
        <p:spPr>
          <a:xfrm>
            <a:off x="457200" y="1225296"/>
            <a:ext cx="8229600" cy="1502664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060D0CC-0398-35A7-658E-56F959384E1E}"/>
              </a:ext>
            </a:extLst>
          </p:cNvPr>
          <p:cNvSpPr/>
          <p:nvPr/>
        </p:nvSpPr>
        <p:spPr>
          <a:xfrm>
            <a:off x="457200" y="1225296"/>
            <a:ext cx="91440" cy="1502664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349EC98-6B48-CC0E-3CEF-FFFEE5FC4C43}"/>
              </a:ext>
            </a:extLst>
          </p:cNvPr>
          <p:cNvSpPr/>
          <p:nvPr/>
        </p:nvSpPr>
        <p:spPr>
          <a:xfrm>
            <a:off x="685800" y="13167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EFB25BB-D52C-2F95-3A8A-E07CF25DAE1C}"/>
              </a:ext>
            </a:extLst>
          </p:cNvPr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AE4A8A2-D043-7BAF-28CE-88A644C41409}"/>
              </a:ext>
            </a:extLst>
          </p:cNvPr>
          <p:cNvSpPr/>
          <p:nvPr/>
        </p:nvSpPr>
        <p:spPr>
          <a:xfrm>
            <a:off x="685800" y="186385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Fully trained YOLOv8 model on custom surveillance dataset (&gt;90% accuracy)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Deployed anomaly detection system with &lt;20% false positive rate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Functional Azure cloud infrastructure with real-time processing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Power BI dashboard with live detection metrics and alert visualization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Complete project documentation and GitHub repository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3BD7432-F84E-65F0-FE09-ED5DFECFAB3C}"/>
              </a:ext>
            </a:extLst>
          </p:cNvPr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63BE996-B77F-6994-03A5-637BBC09B7ED}"/>
              </a:ext>
            </a:extLst>
          </p:cNvPr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146C9F0-9100-0255-9556-3921953E00E2}"/>
              </a:ext>
            </a:extLst>
          </p:cNvPr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18B4571-B5C8-6B45-55E7-E800C5F4233A}"/>
              </a:ext>
            </a:extLst>
          </p:cNvPr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26ACA7F-DF5C-9FA1-0F42-4CD52B23D3B2}"/>
              </a:ext>
            </a:extLst>
          </p:cNvPr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55359B0-32AD-A851-310B-0B9DD388F664}"/>
              </a:ext>
            </a:extLst>
          </p:cNvPr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6A916E38-1E45-772F-5820-16C929BE6DC3}"/>
              </a:ext>
            </a:extLst>
          </p:cNvPr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98793A7-A5B7-C646-AD71-916A983FE5EE}"/>
              </a:ext>
            </a:extLst>
          </p:cNvPr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28723231"/>
      </p:ext>
    </p:extLst>
  </p:cSld>
  <p:clrMapOvr>
    <a:masterClrMapping/>
  </p:clrMapOvr>
  <p:transition spd="slow">
    <p:randomBar dir="vert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715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33614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00D9FF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182761" y="2780144"/>
            <a:ext cx="4492359" cy="1390036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468880" y="2871069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Contact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68880" y="315423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ADCFC"/>
                </a:solidFill>
              </a:rPr>
              <a:t>Vishvarajsinh</a:t>
            </a:r>
            <a:r>
              <a:rPr lang="en-US" sz="1100" dirty="0">
                <a:solidFill>
                  <a:srgbClr val="CADCFC"/>
                </a:solidFill>
              </a:rPr>
              <a:t> </a:t>
            </a:r>
            <a:r>
              <a:rPr lang="en-US" sz="1100" dirty="0" err="1">
                <a:solidFill>
                  <a:srgbClr val="CADCFC"/>
                </a:solidFill>
              </a:rPr>
              <a:t>Ashoksinh</a:t>
            </a:r>
            <a:r>
              <a:rPr lang="en-US" sz="1100" dirty="0">
                <a:solidFill>
                  <a:srgbClr val="CADCFC"/>
                </a:solidFill>
              </a:rPr>
              <a:t> Jadeja</a:t>
            </a:r>
          </a:p>
        </p:txBody>
      </p:sp>
      <p:sp>
        <p:nvSpPr>
          <p:cNvPr id="8" name="Text 5"/>
          <p:cNvSpPr/>
          <p:nvPr/>
        </p:nvSpPr>
        <p:spPr>
          <a:xfrm>
            <a:off x="2468880" y="338372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Email: vjadeja2711@gmail.com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468880" y="3636805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CADCFC"/>
                </a:solidFill>
              </a:rPr>
              <a:t>GitHub: https://github.com/jainilgupta02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468880" y="3886421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LinkedIn: https://linkedin.com/in/jainilgupta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SAL Institute of Technology and Engineering Research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Microsoft Elevate Internship 2026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rder_Defence_Presentation" id="{9E4F15CF-6B86-494D-9959-3096D1BA2AB0}" vid="{5DD214B2-4F19-4E61-B85D-15F74B796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2582</Words>
  <Application>Microsoft Office PowerPoint</Application>
  <PresentationFormat>On-screen Show (16:9)</PresentationFormat>
  <Paragraphs>497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Border Defence and Surveillance - AI-Powered System</dc:title>
  <dc:subject>PptxGenJS Presentation</dc:subject>
  <dc:creator>Jay Gupta</dc:creator>
  <cp:lastModifiedBy>VISHVARAJSINH  JADEJA</cp:lastModifiedBy>
  <cp:revision>14</cp:revision>
  <dcterms:created xsi:type="dcterms:W3CDTF">2026-02-06T17:39:37Z</dcterms:created>
  <dcterms:modified xsi:type="dcterms:W3CDTF">2026-04-06T09:27:49Z</dcterms:modified>
</cp:coreProperties>
</file>